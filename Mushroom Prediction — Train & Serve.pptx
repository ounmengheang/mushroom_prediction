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talk walks through the whole mushroom_prediction repo: the dataset, how we train the model, and especially how we serve it with FastAPI on uvicorn and test the API endpoints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that feed each other: the CSV dataset, the training script, and the FastAPI app that serves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mushrooms.csv has 8,124 rows and 23 columns: the target "class" (e = edible, p = poisonous) and 22 features, all single-letter categorical codes. One-hot encoding turns those 22 columns into 117 binary ones. The classes are close to 50/50. Missing stalk-root values are stored as "?", which the encoder simply treats as another category.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crosstab of odor against class: almond and anise are always edible; foul, fishy, spicy, pungent, creosote and musty are always poisonous. Only mushrooms with no odor are mixed, and even there 97% are edible. The other features then resolve those remaining 120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of train_mushroom.py. Stratify keeps the 52/48 class ratio identical in train and test. handle_unknown="ignore" matters for the API: if someone sends a letter code never seen in training, the encoder outputs zeros instead of crashing. Encoding and model live in one sklearn Pipeline, so the saved object takes raw letter codes and does everything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real numbers from re-running train_mushroom.py: accuracy 0.99938, macro F1 0.99938, ROC AUC 1.0. Out of 1,625 held-out mushrooms only one is wrong, and it is the dangerous direction: poisonous called edible. The test suite guards this with a floor of 0.95 for accuracy and ROC AUC. For a real food-safety use you would lower the probability threshold for "edible".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uvicorn is the web server; FastAPI is the app it runs. At start-up the model is loaded once into memory. Requests are validated by Pydantic, then ml.py returns the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defines four routes. The root route is hidden from the schema and just points people to the docs. /health is for monitoring: it reports whether each model loaded. /models returns the metadata saved in the bundle. /mushroom/predict is the real work. And because this is FastAPI, /docs gives an interactive Swagger UI for free, with an example mushroom pre-filled from the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request is one mushroom as JSON, using the same hyphenated column names as the CSV; Pydantic aliases map them to Python-friendly field names. ml.py builds a DataFrame with the features in training order, calls predict_proba, and returns the winning label, its class name, the confidence and both probabilities. This exact response came from sending the first CSV row, which is indeed poisonous.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commands from a fresh clone: train, serve, try. Train first, or predict returns 503. uvicorn app.main:app means: serve the object called app in app/main.py.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the data is easy for a model, the training script makes it reproducible and self-describing, and the API is small, validated and covered by tests that train their own model. Happy to take questions or demo /docs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3F7F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0B1B3D"/>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28734"/>
            <a:ext cx="10566400" cy="4216466"/>
          </a:xfrm>
          <a:prstGeom prst="rect">
            <a:avLst/>
          </a:prstGeom>
          <a:noFill/>
          <a:ln/>
        </p:spPr>
        <p:txBody>
          <a:bodyPr wrap="square" lIns="0" tIns="0" rIns="0" bIns="0" rtlCol="0" anchor="t"/>
          <a:lstStyle>
            <a:lvl1pPr algn="l" indent="0" marL="0">
              <a:lnSpc>
                <a:spcPct val="140000"/>
              </a:lnSpc>
              <a:buNone/>
              <a:defRPr lang="en-US" sz="1600" dirty="0">
                <a:solidFill>
                  <a:srgbClr val="0B1B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F7FE"/>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76920"/>
            <a:ext cx="10566400" cy="447014"/>
          </a:xfrm>
          <a:prstGeom prst="rect">
            <a:avLst/>
          </a:prstGeom>
          <a:noFill/>
          <a:ln/>
        </p:spPr>
        <p:txBody>
          <a:bodyPr wrap="square" lIns="0" tIns="0" rIns="0" bIns="0" rtlCol="0" anchor="t"/>
          <a:lstStyle>
            <a:lvl1pPr algn="l" indent="0" marL="0">
              <a:lnSpc>
                <a:spcPct val="115000"/>
              </a:lnSpc>
              <a:buNone/>
              <a:defRPr lang="en-US" sz="3200" dirty="0">
                <a:solidFill>
                  <a:srgbClr val="0B1B3D"/>
                </a:solidFill>
                <a:latin typeface="Arial" pitchFamily="34" charset="0"/>
                <a:ea typeface="Arial" pitchFamily="34" charset="-122"/>
                <a:cs typeface="Arial"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28734"/>
            <a:ext cx="10566400" cy="4216466"/>
          </a:xfrm>
          <a:prstGeom prst="rect">
            <a:avLst/>
          </a:prstGeom>
          <a:noFill/>
          <a:ln/>
        </p:spPr>
        <p:txBody>
          <a:bodyPr wrap="square" lIns="0" tIns="0" rIns="0" bIns="0" rtlCol="0" anchor="t"/>
          <a:lstStyle>
            <a:lvl1pPr algn="l" indent="0" marL="0">
              <a:lnSpc>
                <a:spcPct val="140000"/>
              </a:lnSpc>
              <a:buNone/>
              <a:defRPr lang="en-US" sz="1600" dirty="0">
                <a:solidFill>
                  <a:srgbClr val="0B1B3D"/>
                </a:solidFill>
                <a:latin typeface="Arial" pitchFamily="34" charset="0"/>
                <a:ea typeface="Arial" pitchFamily="34" charset="-122"/>
                <a:cs typeface="Arial"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slideLayout" Target="../slideLayouts/slideLayout2.xml"/><Relationship Id="rId1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2.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2.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A3F"/>
        </a:solidFill>
      </p:bgPr>
    </p:bg>
    <p:spTree>
      <p:nvGrpSpPr>
        <p:cNvPr id="1" name=""/>
        <p:cNvGrpSpPr/>
        <p:nvPr/>
      </p:nvGrpSpPr>
      <p:grpSpPr>
        <a:xfrm>
          <a:off x="0" y="0"/>
          <a:ext cx="0" cy="0"/>
          <a:chOff x="0" y="0"/>
          <a:chExt cx="0" cy="0"/>
        </a:xfrm>
      </p:grpSpPr>
      <p:pic>
        <p:nvPicPr>
          <p:cNvPr id="2" name="Image 0" descr="Decorative geometric shape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1864453"/>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DD3FC"/>
                </a:solidFill>
                <a:latin typeface="Arial" pitchFamily="34" charset="0"/>
                <a:ea typeface="Arial" pitchFamily="34" charset="-122"/>
                <a:cs typeface="Arial" pitchFamily="34" charset="-120"/>
              </a:rPr>
              <a:t>MACHINE LEARNING · FASTAPI · UVICORN</a:t>
            </a:r>
            <a:endParaRPr lang="en-US" sz="1200" dirty="0"/>
          </a:p>
        </p:txBody>
      </p:sp>
      <p:sp>
        <p:nvSpPr>
          <p:cNvPr id="4" name="Text 1"/>
          <p:cNvSpPr/>
          <p:nvPr>
            <p:ph type="title"/>
          </p:nvPr>
        </p:nvSpPr>
        <p:spPr>
          <a:xfrm>
            <a:off x="812800" y="2280973"/>
            <a:ext cx="6278880" cy="1549400"/>
          </a:xfrm>
          <a:prstGeom prst="rect">
            <a:avLst/>
          </a:prstGeom>
          <a:noFill/>
          <a:ln/>
        </p:spPr>
        <p:txBody>
          <a:bodyPr wrap="square" lIns="0" tIns="0" rIns="0" bIns="0" rtlCol="0" anchor="t">
            <a:normAutofit/>
          </a:bodyPr>
          <a:lstStyle/>
          <a:p>
            <a:pPr algn="l" indent="0" marL="0">
              <a:lnSpc>
                <a:spcPts val="6000"/>
              </a:lnSpc>
              <a:buNone/>
            </a:pPr>
            <a:r>
              <a:rPr lang="en-US" sz="6000" b="1" i="0" dirty="0">
                <a:solidFill>
                  <a:srgbClr val="F3F7FE"/>
                </a:solidFill>
                <a:latin typeface="Arial" pitchFamily="34" charset="0"/>
                <a:ea typeface="Arial" pitchFamily="34" charset="-122"/>
                <a:cs typeface="Arial" pitchFamily="34" charset="-120"/>
              </a:rPr>
              <a:t>Mushroom</a:t>
            </a:r>
            <a:endParaRPr lang="en-US" sz="6000" dirty="0"/>
          </a:p>
          <a:p>
            <a:pPr algn="l" indent="0" marL="0">
              <a:lnSpc>
                <a:spcPts val="6000"/>
              </a:lnSpc>
              <a:buNone/>
            </a:pPr>
            <a:r>
              <a:rPr lang="en-US" sz="6000" b="1" i="0" dirty="0">
                <a:solidFill>
                  <a:srgbClr val="F3F7FE"/>
                </a:solidFill>
                <a:latin typeface="Arial" pitchFamily="34" charset="0"/>
                <a:ea typeface="Arial" pitchFamily="34" charset="-122"/>
                <a:cs typeface="Arial" pitchFamily="34" charset="-120"/>
              </a:rPr>
              <a:t>Prediction</a:t>
            </a:r>
            <a:endParaRPr lang="en-US" sz="6000" dirty="0"/>
          </a:p>
        </p:txBody>
      </p:sp>
      <p:sp>
        <p:nvSpPr>
          <p:cNvPr id="5" name="Text 2"/>
          <p:cNvSpPr/>
          <p:nvPr/>
        </p:nvSpPr>
        <p:spPr>
          <a:xfrm>
            <a:off x="812800" y="4008173"/>
            <a:ext cx="5624830" cy="59425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C3D3F2"/>
                </a:solidFill>
                <a:latin typeface="Arial" pitchFamily="34" charset="0"/>
                <a:ea typeface="Arial" pitchFamily="34" charset="-122"/>
                <a:cs typeface="Arial" pitchFamily="34" charset="-120"/>
              </a:rPr>
              <a:t>How we trained an edible-vs-poisonous classifier on 8,124 mushrooms and served it as an API with FastAPI on uvicorn.</a:t>
            </a:r>
            <a:endParaRPr lang="en-US" sz="1600" dirty="0"/>
          </a:p>
        </p:txBody>
      </p:sp>
      <p:sp>
        <p:nvSpPr>
          <p:cNvPr id="6" name="Text 3"/>
          <p:cNvSpPr/>
          <p:nvPr/>
        </p:nvSpPr>
        <p:spPr>
          <a:xfrm>
            <a:off x="812800" y="4780227"/>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3C5FD"/>
                </a:solidFill>
                <a:latin typeface="Courier New" pitchFamily="49" charset="0"/>
                <a:ea typeface="Courier New" pitchFamily="49" charset="-122"/>
                <a:cs typeface="Courier New" pitchFamily="49" charset="-120"/>
              </a:rPr>
              <a:t>github.com/ounmengheang/mushroom_prediction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7FE"/>
        </a:solidFill>
      </p:bgPr>
    </p:bg>
    <p:spTree>
      <p:nvGrpSpPr>
        <p:cNvPr id="1" name=""/>
        <p:cNvGrpSpPr/>
        <p:nvPr/>
      </p:nvGrpSpPr>
      <p:grpSpPr>
        <a:xfrm>
          <a:off x="0" y="0"/>
          <a:ext cx="0" cy="0"/>
          <a:chOff x="0" y="0"/>
          <a:chExt cx="0" cy="0"/>
        </a:xfrm>
      </p:grpSpPr>
      <p:pic>
        <p:nvPicPr>
          <p:cNvPr id="2" name="Image 0" descr="Decorative shapes">    </p:cNvPr>
          <p:cNvPicPr>
            <a:picLocks noChangeAspect="1"/>
          </p:cNvPicPr>
          <p:nvPr/>
        </p:nvPicPr>
        <p:blipFill>
          <a:blip r:embed="rId1"/>
          <a:srcRect l="0" r="0" t="0" b="0"/>
          <a:stretch/>
        </p:blipFill>
        <p:spPr>
          <a:xfrm>
            <a:off x="10464800" y="152400"/>
            <a:ext cx="1524000" cy="533400"/>
          </a:xfrm>
          <a:prstGeom prst="rect">
            <a:avLst/>
          </a:prstGeom>
        </p:spPr>
      </p:pic>
      <p:pic>
        <p:nvPicPr>
          <p:cNvPr id="3" name="Image 1" descr="Decorative shapes">    </p:cNvPr>
          <p:cNvPicPr>
            <a:picLocks noChangeAspect="1"/>
          </p:cNvPicPr>
          <p:nvPr/>
        </p:nvPicPr>
        <p:blipFill>
          <a:blip r:embed="rId2"/>
          <a:srcRect l="0" r="0" t="0" b="0"/>
          <a:stretch/>
        </p:blipFill>
        <p:spPr>
          <a:xfrm>
            <a:off x="304800" y="3022600"/>
            <a:ext cx="177800" cy="8128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563EB"/>
                </a:solidFill>
                <a:latin typeface="Arial" pitchFamily="34" charset="0"/>
                <a:ea typeface="Arial" pitchFamily="34" charset="-122"/>
                <a:cs typeface="Arial" pitchFamily="34" charset="-120"/>
              </a:rPr>
              <a:t>OVERVIEW</a:t>
            </a:r>
            <a:endParaRPr lang="en-US" sz="1200" dirty="0"/>
          </a:p>
        </p:txBody>
      </p:sp>
      <p:sp>
        <p:nvSpPr>
          <p:cNvPr id="5" name="Text 1"/>
          <p:cNvSpPr/>
          <p:nvPr>
            <p:ph type="title"/>
          </p:nvPr>
        </p:nvSpPr>
        <p:spPr>
          <a:xfrm>
            <a:off x="812800" y="10769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1B3D"/>
                </a:solidFill>
                <a:latin typeface="Arial" pitchFamily="34" charset="0"/>
                <a:ea typeface="Arial" pitchFamily="34" charset="-122"/>
                <a:cs typeface="Arial" pitchFamily="34" charset="-120"/>
              </a:rPr>
              <a:t>Three stages, one repository</a:t>
            </a:r>
            <a:endParaRPr lang="en-US" sz="3200" dirty="0"/>
          </a:p>
        </p:txBody>
      </p:sp>
      <p:sp>
        <p:nvSpPr>
          <p:cNvPr id="6" name="Shape 2"/>
          <p:cNvSpPr/>
          <p:nvPr/>
        </p:nvSpPr>
        <p:spPr>
          <a:xfrm>
            <a:off x="815975" y="1882709"/>
            <a:ext cx="3143250" cy="2547012"/>
          </a:xfrm>
          <a:prstGeom prst="roundRect">
            <a:avLst>
              <a:gd name="adj" fmla="val 5859"/>
            </a:avLst>
          </a:prstGeom>
          <a:solidFill>
            <a:srgbClr val="FBFCFF"/>
          </a:solidFill>
          <a:ln w="6350">
            <a:solidFill>
              <a:srgbClr val="D6E2F7"/>
            </a:solidFill>
            <a:prstDash val="solid"/>
          </a:ln>
          <a:effectLst>
            <a:outerShdw sx="100000" sy="100000" kx="0" ky="0" algn="bl" rotWithShape="0" blurRad="203200" dist="76200" dir="5400000">
              <a:srgbClr val="2563EB">
                <a:alpha val="8000"/>
              </a:srgbClr>
            </a:outerShdw>
          </a:effectLst>
        </p:spPr>
      </p:sp>
      <p:sp>
        <p:nvSpPr>
          <p:cNvPr id="7" name="Shape 3"/>
          <p:cNvSpPr/>
          <p:nvPr/>
        </p:nvSpPr>
        <p:spPr>
          <a:xfrm>
            <a:off x="1020233" y="2086967"/>
            <a:ext cx="558800" cy="558800"/>
          </a:xfrm>
          <a:prstGeom prst="roundRect">
            <a:avLst>
              <a:gd name="adj" fmla="val 50000"/>
            </a:avLst>
          </a:prstGeom>
          <a:solidFill>
            <a:srgbClr val="2563EB"/>
          </a:solidFill>
          <a:ln/>
        </p:spPr>
      </p:sp>
      <p:pic>
        <p:nvPicPr>
          <p:cNvPr id="8" name="Image 2" descr="Database">    </p:cNvPr>
          <p:cNvPicPr>
            <a:picLocks noChangeAspect="1"/>
          </p:cNvPicPr>
          <p:nvPr/>
        </p:nvPicPr>
        <p:blipFill>
          <a:blip r:embed="rId3"/>
          <a:srcRect l="0" r="0" t="0" b="0"/>
          <a:stretch/>
        </p:blipFill>
        <p:spPr>
          <a:xfrm>
            <a:off x="1159933" y="2226667"/>
            <a:ext cx="279400" cy="279400"/>
          </a:xfrm>
          <a:prstGeom prst="rect">
            <a:avLst/>
          </a:prstGeom>
        </p:spPr>
      </p:pic>
      <p:sp>
        <p:nvSpPr>
          <p:cNvPr id="9" name="Text 4"/>
          <p:cNvSpPr/>
          <p:nvPr/>
        </p:nvSpPr>
        <p:spPr>
          <a:xfrm>
            <a:off x="1020233" y="2747367"/>
            <a:ext cx="28167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EB"/>
                </a:solidFill>
                <a:latin typeface="Arial" pitchFamily="34" charset="0"/>
                <a:ea typeface="Arial" pitchFamily="34" charset="-122"/>
                <a:cs typeface="Arial" pitchFamily="34" charset="-120"/>
              </a:rPr>
              <a:t>01</a:t>
            </a:r>
            <a:endParaRPr lang="en-US" sz="1200" dirty="0"/>
          </a:p>
        </p:txBody>
      </p:sp>
      <p:sp>
        <p:nvSpPr>
          <p:cNvPr id="10" name="Text 5"/>
          <p:cNvSpPr/>
          <p:nvPr/>
        </p:nvSpPr>
        <p:spPr>
          <a:xfrm>
            <a:off x="1020233" y="3062288"/>
            <a:ext cx="281677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D"/>
                </a:solidFill>
                <a:latin typeface="Arial" pitchFamily="34" charset="0"/>
                <a:ea typeface="Arial" pitchFamily="34" charset="-122"/>
                <a:cs typeface="Arial" pitchFamily="34" charset="-120"/>
              </a:rPr>
              <a:t>Dataset</a:t>
            </a:r>
            <a:endParaRPr lang="en-US" sz="1600" dirty="0"/>
          </a:p>
        </p:txBody>
      </p:sp>
      <p:sp>
        <p:nvSpPr>
          <p:cNvPr id="11" name="Text 6"/>
          <p:cNvSpPr/>
          <p:nvPr/>
        </p:nvSpPr>
        <p:spPr>
          <a:xfrm>
            <a:off x="1020233" y="3407701"/>
            <a:ext cx="28167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8,124 labelled mushrooms described by 22 categorical features</a:t>
            </a:r>
            <a:endParaRPr lang="en-US" sz="1200" dirty="0"/>
          </a:p>
        </p:txBody>
      </p:sp>
      <p:sp>
        <p:nvSpPr>
          <p:cNvPr id="12" name="Text 7"/>
          <p:cNvSpPr/>
          <p:nvPr/>
        </p:nvSpPr>
        <p:spPr>
          <a:xfrm>
            <a:off x="1020233" y="3935942"/>
            <a:ext cx="2734733" cy="289520"/>
          </a:xfrm>
          <a:prstGeom prst="roundRect">
            <a:avLst>
              <a:gd name="adj" fmla="val 17546"/>
            </a:avLst>
          </a:prstGeom>
          <a:solidFill>
            <a:srgbClr val="E4ECFA"/>
          </a:solidFill>
          <a:ln/>
        </p:spPr>
        <p:txBody>
          <a:bodyPr wrap="square" lIns="61321" tIns="23221" rIns="0" bIns="0" rtlCol="0" anchor="t">
            <a:normAutofit/>
          </a:bodyPr>
          <a:lstStyle/>
          <a:p>
            <a:pPr algn="l" indent="0" marL="0">
              <a:lnSpc>
                <a:spcPts val="1680"/>
              </a:lnSpc>
              <a:buNone/>
            </a:pPr>
            <a:r>
              <a:rPr lang="en-US" sz="1200" dirty="0">
                <a:solidFill>
                  <a:srgbClr val="1E3A8A"/>
                </a:solidFill>
                <a:latin typeface="Courier New" pitchFamily="49" charset="0"/>
                <a:ea typeface="Courier New" pitchFamily="49" charset="-122"/>
                <a:cs typeface="Courier New" pitchFamily="49" charset="-120"/>
              </a:rPr>
              <a:t>mushrooms.csv</a:t>
            </a:r>
            <a:endParaRPr lang="en-US" sz="1200" dirty="0"/>
          </a:p>
        </p:txBody>
      </p:sp>
      <p:pic>
        <p:nvPicPr>
          <p:cNvPr id="13" name="Image 3" descr="arrow-right">    </p:cNvPr>
          <p:cNvPicPr>
            <a:picLocks noChangeAspect="1"/>
          </p:cNvPicPr>
          <p:nvPr/>
        </p:nvPicPr>
        <p:blipFill>
          <a:blip r:embed="rId4"/>
          <a:srcRect l="0" r="0" t="0" b="0"/>
          <a:stretch/>
        </p:blipFill>
        <p:spPr>
          <a:xfrm>
            <a:off x="4114800" y="3092715"/>
            <a:ext cx="254000" cy="127000"/>
          </a:xfrm>
          <a:prstGeom prst="rect">
            <a:avLst/>
          </a:prstGeom>
        </p:spPr>
      </p:pic>
      <p:sp>
        <p:nvSpPr>
          <p:cNvPr id="14" name="Shape 8"/>
          <p:cNvSpPr/>
          <p:nvPr/>
        </p:nvSpPr>
        <p:spPr>
          <a:xfrm>
            <a:off x="4524375" y="1882709"/>
            <a:ext cx="3143250" cy="2547012"/>
          </a:xfrm>
          <a:prstGeom prst="roundRect">
            <a:avLst>
              <a:gd name="adj" fmla="val 5859"/>
            </a:avLst>
          </a:prstGeom>
          <a:solidFill>
            <a:srgbClr val="FBFCFF"/>
          </a:solidFill>
          <a:ln w="6350">
            <a:solidFill>
              <a:srgbClr val="D6E2F7"/>
            </a:solidFill>
            <a:prstDash val="solid"/>
          </a:ln>
          <a:effectLst>
            <a:outerShdw sx="100000" sy="100000" kx="0" ky="0" algn="bl" rotWithShape="0" blurRad="203200" dist="76200" dir="5400000">
              <a:srgbClr val="2563EB">
                <a:alpha val="8000"/>
              </a:srgbClr>
            </a:outerShdw>
          </a:effectLst>
        </p:spPr>
      </p:sp>
      <p:sp>
        <p:nvSpPr>
          <p:cNvPr id="15" name="Shape 9"/>
          <p:cNvSpPr/>
          <p:nvPr/>
        </p:nvSpPr>
        <p:spPr>
          <a:xfrm>
            <a:off x="4728633" y="2086967"/>
            <a:ext cx="558800" cy="558800"/>
          </a:xfrm>
          <a:prstGeom prst="roundRect">
            <a:avLst>
              <a:gd name="adj" fmla="val 50000"/>
            </a:avLst>
          </a:prstGeom>
          <a:solidFill>
            <a:srgbClr val="2563EB"/>
          </a:solidFill>
          <a:ln/>
        </p:spPr>
      </p:sp>
      <p:pic>
        <p:nvPicPr>
          <p:cNvPr id="16" name="Image 4" descr="Lightbulb">    </p:cNvPr>
          <p:cNvPicPr>
            <a:picLocks noChangeAspect="1"/>
          </p:cNvPicPr>
          <p:nvPr/>
        </p:nvPicPr>
        <p:blipFill>
          <a:blip r:embed="rId5"/>
          <a:srcRect l="0" r="0" t="0" b="0"/>
          <a:stretch/>
        </p:blipFill>
        <p:spPr>
          <a:xfrm>
            <a:off x="4868333" y="2226667"/>
            <a:ext cx="279400" cy="279400"/>
          </a:xfrm>
          <a:prstGeom prst="rect">
            <a:avLst/>
          </a:prstGeom>
        </p:spPr>
      </p:pic>
      <p:sp>
        <p:nvSpPr>
          <p:cNvPr id="17" name="Text 10"/>
          <p:cNvSpPr/>
          <p:nvPr/>
        </p:nvSpPr>
        <p:spPr>
          <a:xfrm>
            <a:off x="4728633" y="2747367"/>
            <a:ext cx="28167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EB"/>
                </a:solidFill>
                <a:latin typeface="Arial" pitchFamily="34" charset="0"/>
                <a:ea typeface="Arial" pitchFamily="34" charset="-122"/>
                <a:cs typeface="Arial" pitchFamily="34" charset="-120"/>
              </a:rPr>
              <a:t>02</a:t>
            </a:r>
            <a:endParaRPr lang="en-US" sz="1200" dirty="0"/>
          </a:p>
        </p:txBody>
      </p:sp>
      <p:sp>
        <p:nvSpPr>
          <p:cNvPr id="18" name="Text 11"/>
          <p:cNvSpPr/>
          <p:nvPr/>
        </p:nvSpPr>
        <p:spPr>
          <a:xfrm>
            <a:off x="4728633" y="3062288"/>
            <a:ext cx="281677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D"/>
                </a:solidFill>
                <a:latin typeface="Arial" pitchFamily="34" charset="0"/>
                <a:ea typeface="Arial" pitchFamily="34" charset="-122"/>
                <a:cs typeface="Arial" pitchFamily="34" charset="-120"/>
              </a:rPr>
              <a:t>Train</a:t>
            </a:r>
            <a:endParaRPr lang="en-US" sz="1600" dirty="0"/>
          </a:p>
        </p:txBody>
      </p:sp>
      <p:sp>
        <p:nvSpPr>
          <p:cNvPr id="19" name="Text 12"/>
          <p:cNvSpPr/>
          <p:nvPr/>
        </p:nvSpPr>
        <p:spPr>
          <a:xfrm>
            <a:off x="4728633" y="3407701"/>
            <a:ext cx="28167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Explore in a notebook, then a script trains and saves the model</a:t>
            </a:r>
            <a:endParaRPr lang="en-US" sz="1200" dirty="0"/>
          </a:p>
        </p:txBody>
      </p:sp>
      <p:sp>
        <p:nvSpPr>
          <p:cNvPr id="20" name="Text 13"/>
          <p:cNvSpPr/>
          <p:nvPr/>
        </p:nvSpPr>
        <p:spPr>
          <a:xfrm>
            <a:off x="4728633" y="3935942"/>
            <a:ext cx="2734733" cy="289520"/>
          </a:xfrm>
          <a:prstGeom prst="roundRect">
            <a:avLst>
              <a:gd name="adj" fmla="val 17546"/>
            </a:avLst>
          </a:prstGeom>
          <a:solidFill>
            <a:srgbClr val="E4ECFA"/>
          </a:solidFill>
          <a:ln/>
        </p:spPr>
        <p:txBody>
          <a:bodyPr wrap="square" lIns="61321" tIns="23221" rIns="0" bIns="0" rtlCol="0" anchor="t">
            <a:normAutofit/>
          </a:bodyPr>
          <a:lstStyle/>
          <a:p>
            <a:pPr algn="l" indent="0" marL="0">
              <a:lnSpc>
                <a:spcPts val="1680"/>
              </a:lnSpc>
              <a:buNone/>
            </a:pPr>
            <a:r>
              <a:rPr lang="en-US" sz="1200" dirty="0">
                <a:solidFill>
                  <a:srgbClr val="1E3A8A"/>
                </a:solidFill>
                <a:latin typeface="Courier New" pitchFamily="49" charset="0"/>
                <a:ea typeface="Courier New" pitchFamily="49" charset="-122"/>
                <a:cs typeface="Courier New" pitchFamily="49" charset="-120"/>
              </a:rPr>
              <a:t>train_mushroom.py</a:t>
            </a:r>
            <a:endParaRPr lang="en-US" sz="1200" dirty="0"/>
          </a:p>
        </p:txBody>
      </p:sp>
      <p:pic>
        <p:nvPicPr>
          <p:cNvPr id="21" name="Image 5" descr="arrow-right">    </p:cNvPr>
          <p:cNvPicPr>
            <a:picLocks noChangeAspect="1"/>
          </p:cNvPicPr>
          <p:nvPr/>
        </p:nvPicPr>
        <p:blipFill>
          <a:blip r:embed="rId6"/>
          <a:srcRect l="0" r="0" t="0" b="0"/>
          <a:stretch/>
        </p:blipFill>
        <p:spPr>
          <a:xfrm>
            <a:off x="7823200" y="3092715"/>
            <a:ext cx="254000" cy="127000"/>
          </a:xfrm>
          <a:prstGeom prst="rect">
            <a:avLst/>
          </a:prstGeom>
        </p:spPr>
      </p:pic>
      <p:sp>
        <p:nvSpPr>
          <p:cNvPr id="22" name="Shape 14"/>
          <p:cNvSpPr/>
          <p:nvPr/>
        </p:nvSpPr>
        <p:spPr>
          <a:xfrm>
            <a:off x="8232775" y="1882709"/>
            <a:ext cx="3143250" cy="2547012"/>
          </a:xfrm>
          <a:prstGeom prst="roundRect">
            <a:avLst>
              <a:gd name="adj" fmla="val 5859"/>
            </a:avLst>
          </a:prstGeom>
          <a:solidFill>
            <a:srgbClr val="FBFCFF"/>
          </a:solidFill>
          <a:ln w="6350">
            <a:solidFill>
              <a:srgbClr val="D6E2F7"/>
            </a:solidFill>
            <a:prstDash val="solid"/>
          </a:ln>
          <a:effectLst>
            <a:outerShdw sx="100000" sy="100000" kx="0" ky="0" algn="bl" rotWithShape="0" blurRad="203200" dist="76200" dir="5400000">
              <a:srgbClr val="2563EB">
                <a:alpha val="8000"/>
              </a:srgbClr>
            </a:outerShdw>
          </a:effectLst>
        </p:spPr>
      </p:sp>
      <p:sp>
        <p:nvSpPr>
          <p:cNvPr id="23" name="Shape 15"/>
          <p:cNvSpPr/>
          <p:nvPr/>
        </p:nvSpPr>
        <p:spPr>
          <a:xfrm>
            <a:off x="8437034" y="2086967"/>
            <a:ext cx="558800" cy="558800"/>
          </a:xfrm>
          <a:prstGeom prst="roundRect">
            <a:avLst>
              <a:gd name="adj" fmla="val 50000"/>
            </a:avLst>
          </a:prstGeom>
          <a:solidFill>
            <a:srgbClr val="2563EB"/>
          </a:solidFill>
          <a:ln/>
        </p:spPr>
      </p:sp>
      <p:pic>
        <p:nvPicPr>
          <p:cNvPr id="24" name="Image 6" descr="Globe">    </p:cNvPr>
          <p:cNvPicPr>
            <a:picLocks noChangeAspect="1"/>
          </p:cNvPicPr>
          <p:nvPr/>
        </p:nvPicPr>
        <p:blipFill>
          <a:blip r:embed="rId7"/>
          <a:srcRect l="0" r="0" t="0" b="0"/>
          <a:stretch/>
        </p:blipFill>
        <p:spPr>
          <a:xfrm>
            <a:off x="8576734" y="2226667"/>
            <a:ext cx="279400" cy="279400"/>
          </a:xfrm>
          <a:prstGeom prst="rect">
            <a:avLst/>
          </a:prstGeom>
        </p:spPr>
      </p:pic>
      <p:sp>
        <p:nvSpPr>
          <p:cNvPr id="25" name="Text 16"/>
          <p:cNvSpPr/>
          <p:nvPr/>
        </p:nvSpPr>
        <p:spPr>
          <a:xfrm>
            <a:off x="8437034" y="2747367"/>
            <a:ext cx="281677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EB"/>
                </a:solidFill>
                <a:latin typeface="Arial" pitchFamily="34" charset="0"/>
                <a:ea typeface="Arial" pitchFamily="34" charset="-122"/>
                <a:cs typeface="Arial" pitchFamily="34" charset="-120"/>
              </a:rPr>
              <a:t>03</a:t>
            </a:r>
            <a:endParaRPr lang="en-US" sz="1200" dirty="0"/>
          </a:p>
        </p:txBody>
      </p:sp>
      <p:sp>
        <p:nvSpPr>
          <p:cNvPr id="26" name="Text 17"/>
          <p:cNvSpPr/>
          <p:nvPr/>
        </p:nvSpPr>
        <p:spPr>
          <a:xfrm>
            <a:off x="8437034" y="3062288"/>
            <a:ext cx="281677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D"/>
                </a:solidFill>
                <a:latin typeface="Arial" pitchFamily="34" charset="0"/>
                <a:ea typeface="Arial" pitchFamily="34" charset="-122"/>
                <a:cs typeface="Arial" pitchFamily="34" charset="-120"/>
              </a:rPr>
              <a:t>Serve</a:t>
            </a:r>
            <a:endParaRPr lang="en-US" sz="1600" dirty="0"/>
          </a:p>
        </p:txBody>
      </p:sp>
      <p:sp>
        <p:nvSpPr>
          <p:cNvPr id="27" name="Text 18"/>
          <p:cNvSpPr/>
          <p:nvPr/>
        </p:nvSpPr>
        <p:spPr>
          <a:xfrm>
            <a:off x="8437034" y="3407701"/>
            <a:ext cx="281677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A FastAPI app on uvicorn exposes health, models and predict routes</a:t>
            </a:r>
            <a:endParaRPr lang="en-US" sz="1200" dirty="0"/>
          </a:p>
        </p:txBody>
      </p:sp>
      <p:sp>
        <p:nvSpPr>
          <p:cNvPr id="28" name="Text 19"/>
          <p:cNvSpPr/>
          <p:nvPr/>
        </p:nvSpPr>
        <p:spPr>
          <a:xfrm>
            <a:off x="8437034" y="3935942"/>
            <a:ext cx="2734733" cy="289520"/>
          </a:xfrm>
          <a:prstGeom prst="roundRect">
            <a:avLst>
              <a:gd name="adj" fmla="val 17546"/>
            </a:avLst>
          </a:prstGeom>
          <a:solidFill>
            <a:srgbClr val="E4ECFA"/>
          </a:solidFill>
          <a:ln/>
        </p:spPr>
        <p:txBody>
          <a:bodyPr wrap="square" lIns="61321" tIns="23221" rIns="0" bIns="0" rtlCol="0" anchor="t">
            <a:normAutofit/>
          </a:bodyPr>
          <a:lstStyle/>
          <a:p>
            <a:pPr algn="l" indent="0" marL="0">
              <a:lnSpc>
                <a:spcPts val="1680"/>
              </a:lnSpc>
              <a:buNone/>
            </a:pPr>
            <a:r>
              <a:rPr lang="en-US" sz="1200" dirty="0">
                <a:solidFill>
                  <a:srgbClr val="1E3A8A"/>
                </a:solidFill>
                <a:latin typeface="Courier New" pitchFamily="49" charset="0"/>
                <a:ea typeface="Courier New" pitchFamily="49" charset="-122"/>
                <a:cs typeface="Courier New" pitchFamily="49" charset="-120"/>
              </a:rPr>
              <a:t>app/main.py</a:t>
            </a:r>
            <a:endParaRPr lang="en-US" sz="1200" dirty="0"/>
          </a:p>
        </p:txBody>
      </p:sp>
      <p:sp>
        <p:nvSpPr>
          <p:cNvPr id="29" name="Text 20"/>
          <p:cNvSpPr/>
          <p:nvPr/>
        </p:nvSpPr>
        <p:spPr>
          <a:xfrm>
            <a:off x="812800" y="6238280"/>
            <a:ext cx="29678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58C"/>
                </a:solidFill>
                <a:latin typeface="Arial" pitchFamily="34" charset="0"/>
                <a:ea typeface="Arial" pitchFamily="34" charset="-122"/>
                <a:cs typeface="Arial" pitchFamily="34" charset="-120"/>
              </a:rPr>
              <a:t>Mushroom Prediction · Train &amp; serve</a:t>
            </a:r>
            <a:endParaRPr lang="en-US" sz="1200" dirty="0"/>
          </a:p>
        </p:txBody>
      </p:sp>
      <p:sp>
        <p:nvSpPr>
          <p:cNvPr id="30" name="Text 21"/>
          <p:cNvSpPr/>
          <p:nvPr/>
        </p:nvSpPr>
        <p:spPr>
          <a:xfrm>
            <a:off x="10830005" y="6238280"/>
            <a:ext cx="549196"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2658C"/>
                </a:solidFill>
                <a:latin typeface="Arial" pitchFamily="34" charset="0"/>
                <a:ea typeface="Arial" pitchFamily="34" charset="-122"/>
                <a:cs typeface="Arial" pitchFamily="34" charset="-120"/>
              </a:rPr>
              <a:t>02 / 11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7FE"/>
        </a:solidFill>
      </p:bgPr>
    </p:bg>
    <p:spTree>
      <p:nvGrpSpPr>
        <p:cNvPr id="1" name=""/>
        <p:cNvGrpSpPr/>
        <p:nvPr/>
      </p:nvGrpSpPr>
      <p:grpSpPr>
        <a:xfrm>
          <a:off x="0" y="0"/>
          <a:ext cx="0" cy="0"/>
          <a:chOff x="0" y="0"/>
          <a:chExt cx="0" cy="0"/>
        </a:xfrm>
      </p:grpSpPr>
      <p:pic>
        <p:nvPicPr>
          <p:cNvPr id="2" name="Image 0" descr="Decorative shapes">    </p:cNvPr>
          <p:cNvPicPr>
            <a:picLocks noChangeAspect="1"/>
          </p:cNvPicPr>
          <p:nvPr/>
        </p:nvPicPr>
        <p:blipFill>
          <a:blip r:embed="rId1"/>
          <a:srcRect l="0" r="0" t="0" b="0"/>
          <a:stretch/>
        </p:blipFill>
        <p:spPr>
          <a:xfrm>
            <a:off x="10464800" y="152400"/>
            <a:ext cx="1524000" cy="533400"/>
          </a:xfrm>
          <a:prstGeom prst="rect">
            <a:avLst/>
          </a:prstGeom>
        </p:spPr>
      </p:pic>
      <p:pic>
        <p:nvPicPr>
          <p:cNvPr id="3" name="Image 1" descr="Decorative shapes">    </p:cNvPr>
          <p:cNvPicPr>
            <a:picLocks noChangeAspect="1"/>
          </p:cNvPicPr>
          <p:nvPr/>
        </p:nvPicPr>
        <p:blipFill>
          <a:blip r:embed="rId2"/>
          <a:srcRect l="0" r="0" t="0" b="0"/>
          <a:stretch/>
        </p:blipFill>
        <p:spPr>
          <a:xfrm>
            <a:off x="304800" y="3022600"/>
            <a:ext cx="177800" cy="8128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563EB"/>
                </a:solidFill>
                <a:latin typeface="Arial" pitchFamily="34" charset="0"/>
                <a:ea typeface="Arial" pitchFamily="34" charset="-122"/>
                <a:cs typeface="Arial" pitchFamily="34" charset="-120"/>
              </a:rPr>
              <a:t>01 · DATASET · MUSHROOMS.CSV</a:t>
            </a:r>
            <a:endParaRPr lang="en-US" sz="1200" dirty="0"/>
          </a:p>
        </p:txBody>
      </p:sp>
      <p:sp>
        <p:nvSpPr>
          <p:cNvPr id="5" name="Text 1"/>
          <p:cNvSpPr/>
          <p:nvPr>
            <p:ph type="title"/>
          </p:nvPr>
        </p:nvSpPr>
        <p:spPr>
          <a:xfrm>
            <a:off x="812800" y="10769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1B3D"/>
                </a:solidFill>
                <a:latin typeface="Arial" pitchFamily="34" charset="0"/>
                <a:ea typeface="Arial" pitchFamily="34" charset="-122"/>
                <a:cs typeface="Arial" pitchFamily="34" charset="-120"/>
              </a:rPr>
              <a:t>8,124 mushrooms, 22 clues each</a:t>
            </a:r>
            <a:endParaRPr lang="en-US" sz="3200" dirty="0"/>
          </a:p>
        </p:txBody>
      </p:sp>
      <p:sp>
        <p:nvSpPr>
          <p:cNvPr id="6" name="Shape 2"/>
          <p:cNvSpPr/>
          <p:nvPr/>
        </p:nvSpPr>
        <p:spPr>
          <a:xfrm>
            <a:off x="815975" y="1781110"/>
            <a:ext cx="2482850" cy="1495557"/>
          </a:xfrm>
          <a:prstGeom prst="roundRect">
            <a:avLst>
              <a:gd name="adj" fmla="val 8280"/>
            </a:avLst>
          </a:prstGeom>
          <a:solidFill>
            <a:srgbClr val="FBFCFF"/>
          </a:solidFill>
          <a:ln w="6350">
            <a:solidFill>
              <a:srgbClr val="D6E2F7"/>
            </a:solidFill>
            <a:prstDash val="solid"/>
          </a:ln>
        </p:spPr>
      </p:sp>
      <p:sp>
        <p:nvSpPr>
          <p:cNvPr id="7" name="Text 3"/>
          <p:cNvSpPr/>
          <p:nvPr/>
        </p:nvSpPr>
        <p:spPr>
          <a:xfrm>
            <a:off x="1020233" y="1985367"/>
            <a:ext cx="213656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563EB"/>
                </a:solidFill>
                <a:latin typeface="Arial" pitchFamily="34" charset="0"/>
                <a:ea typeface="Arial" pitchFamily="34" charset="-122"/>
                <a:cs typeface="Arial" pitchFamily="34" charset="-120"/>
              </a:rPr>
              <a:t>8,124</a:t>
            </a:r>
            <a:endParaRPr lang="en-US" sz="4800" dirty="0"/>
          </a:p>
        </p:txBody>
      </p:sp>
      <p:sp>
        <p:nvSpPr>
          <p:cNvPr id="8" name="Text 4"/>
          <p:cNvSpPr/>
          <p:nvPr/>
        </p:nvSpPr>
        <p:spPr>
          <a:xfrm>
            <a:off x="1020233" y="2645767"/>
            <a:ext cx="213656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rows · one mushroom each</a:t>
            </a:r>
            <a:endParaRPr lang="en-US" sz="1200" dirty="0"/>
          </a:p>
        </p:txBody>
      </p:sp>
      <p:sp>
        <p:nvSpPr>
          <p:cNvPr id="9" name="Shape 5"/>
          <p:cNvSpPr/>
          <p:nvPr/>
        </p:nvSpPr>
        <p:spPr>
          <a:xfrm>
            <a:off x="3508375" y="1781110"/>
            <a:ext cx="2482850" cy="1495557"/>
          </a:xfrm>
          <a:prstGeom prst="roundRect">
            <a:avLst>
              <a:gd name="adj" fmla="val 8280"/>
            </a:avLst>
          </a:prstGeom>
          <a:solidFill>
            <a:srgbClr val="FBFCFF"/>
          </a:solidFill>
          <a:ln w="6350">
            <a:solidFill>
              <a:srgbClr val="D6E2F7"/>
            </a:solidFill>
            <a:prstDash val="solid"/>
          </a:ln>
        </p:spPr>
      </p:sp>
      <p:sp>
        <p:nvSpPr>
          <p:cNvPr id="10" name="Text 6"/>
          <p:cNvSpPr/>
          <p:nvPr/>
        </p:nvSpPr>
        <p:spPr>
          <a:xfrm>
            <a:off x="3712633" y="1985367"/>
            <a:ext cx="213656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563EB"/>
                </a:solidFill>
                <a:latin typeface="Arial" pitchFamily="34" charset="0"/>
                <a:ea typeface="Arial" pitchFamily="34" charset="-122"/>
                <a:cs typeface="Arial" pitchFamily="34" charset="-120"/>
              </a:rPr>
              <a:t>22</a:t>
            </a:r>
            <a:endParaRPr lang="en-US" sz="4800" dirty="0"/>
          </a:p>
        </p:txBody>
      </p:sp>
      <p:sp>
        <p:nvSpPr>
          <p:cNvPr id="11" name="Text 7"/>
          <p:cNvSpPr/>
          <p:nvPr/>
        </p:nvSpPr>
        <p:spPr>
          <a:xfrm>
            <a:off x="3712633" y="2645767"/>
            <a:ext cx="213656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categorical features (letter codes)</a:t>
            </a:r>
            <a:endParaRPr lang="en-US" sz="1200" dirty="0"/>
          </a:p>
        </p:txBody>
      </p:sp>
      <p:sp>
        <p:nvSpPr>
          <p:cNvPr id="12" name="Shape 8"/>
          <p:cNvSpPr/>
          <p:nvPr/>
        </p:nvSpPr>
        <p:spPr>
          <a:xfrm>
            <a:off x="6200775" y="1781110"/>
            <a:ext cx="2482850" cy="1495557"/>
          </a:xfrm>
          <a:prstGeom prst="roundRect">
            <a:avLst>
              <a:gd name="adj" fmla="val 8280"/>
            </a:avLst>
          </a:prstGeom>
          <a:solidFill>
            <a:srgbClr val="FBFCFF"/>
          </a:solidFill>
          <a:ln w="6350">
            <a:solidFill>
              <a:srgbClr val="D6E2F7"/>
            </a:solidFill>
            <a:prstDash val="solid"/>
          </a:ln>
        </p:spPr>
      </p:sp>
      <p:sp>
        <p:nvSpPr>
          <p:cNvPr id="13" name="Text 9"/>
          <p:cNvSpPr/>
          <p:nvPr/>
        </p:nvSpPr>
        <p:spPr>
          <a:xfrm>
            <a:off x="6405033" y="1985367"/>
            <a:ext cx="213656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563EB"/>
                </a:solidFill>
                <a:latin typeface="Arial" pitchFamily="34" charset="0"/>
                <a:ea typeface="Arial" pitchFamily="34" charset="-122"/>
                <a:cs typeface="Arial" pitchFamily="34" charset="-120"/>
              </a:rPr>
              <a:t>2</a:t>
            </a:r>
            <a:endParaRPr lang="en-US" sz="4800" dirty="0"/>
          </a:p>
        </p:txBody>
      </p:sp>
      <p:sp>
        <p:nvSpPr>
          <p:cNvPr id="14" name="Text 10"/>
          <p:cNvSpPr/>
          <p:nvPr/>
        </p:nvSpPr>
        <p:spPr>
          <a:xfrm>
            <a:off x="6405033" y="2645767"/>
            <a:ext cx="213656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classes in the target column “class”</a:t>
            </a:r>
            <a:endParaRPr lang="en-US" sz="1200" dirty="0"/>
          </a:p>
        </p:txBody>
      </p:sp>
      <p:sp>
        <p:nvSpPr>
          <p:cNvPr id="15" name="Shape 11"/>
          <p:cNvSpPr/>
          <p:nvPr/>
        </p:nvSpPr>
        <p:spPr>
          <a:xfrm>
            <a:off x="8893175" y="1781110"/>
            <a:ext cx="2482850" cy="1495557"/>
          </a:xfrm>
          <a:prstGeom prst="roundRect">
            <a:avLst>
              <a:gd name="adj" fmla="val 8280"/>
            </a:avLst>
          </a:prstGeom>
          <a:solidFill>
            <a:srgbClr val="0A1A3F"/>
          </a:solidFill>
          <a:ln w="6350">
            <a:solidFill>
              <a:srgbClr val="0A1A3F"/>
            </a:solidFill>
            <a:prstDash val="solid"/>
          </a:ln>
        </p:spPr>
      </p:sp>
      <p:sp>
        <p:nvSpPr>
          <p:cNvPr id="16" name="Text 12"/>
          <p:cNvSpPr/>
          <p:nvPr/>
        </p:nvSpPr>
        <p:spPr>
          <a:xfrm>
            <a:off x="9097434" y="1985367"/>
            <a:ext cx="213656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7DD3FC"/>
                </a:solidFill>
                <a:latin typeface="Arial" pitchFamily="34" charset="0"/>
                <a:ea typeface="Arial" pitchFamily="34" charset="-122"/>
                <a:cs typeface="Arial" pitchFamily="34" charset="-120"/>
              </a:rPr>
              <a:t>117</a:t>
            </a:r>
            <a:endParaRPr lang="en-US" sz="4800" dirty="0"/>
          </a:p>
        </p:txBody>
      </p:sp>
      <p:sp>
        <p:nvSpPr>
          <p:cNvPr id="17" name="Text 13"/>
          <p:cNvSpPr/>
          <p:nvPr/>
        </p:nvSpPr>
        <p:spPr>
          <a:xfrm>
            <a:off x="9097434" y="2645767"/>
            <a:ext cx="2136563"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3F2"/>
                </a:solidFill>
                <a:latin typeface="Arial" pitchFamily="34" charset="0"/>
                <a:ea typeface="Arial" pitchFamily="34" charset="-122"/>
                <a:cs typeface="Arial" pitchFamily="34" charset="-120"/>
              </a:rPr>
              <a:t>binary columns after one-hot encoding</a:t>
            </a:r>
            <a:endParaRPr lang="en-US" sz="1200" dirty="0"/>
          </a:p>
        </p:txBody>
      </p:sp>
      <p:sp>
        <p:nvSpPr>
          <p:cNvPr id="18" name="Text 14"/>
          <p:cNvSpPr/>
          <p:nvPr/>
        </p:nvSpPr>
        <p:spPr>
          <a:xfrm>
            <a:off x="812800" y="353384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1B3D"/>
                </a:solidFill>
                <a:latin typeface="Arial" pitchFamily="34" charset="0"/>
                <a:ea typeface="Arial" pitchFamily="34" charset="-122"/>
                <a:cs typeface="Arial" pitchFamily="34" charset="-120"/>
              </a:rPr>
              <a:t>CLASS BALANCE</a:t>
            </a:r>
            <a:endParaRPr lang="en-US" sz="1200" dirty="0"/>
          </a:p>
        </p:txBody>
      </p:sp>
      <p:sp>
        <p:nvSpPr>
          <p:cNvPr id="19" name="Text 15"/>
          <p:cNvSpPr/>
          <p:nvPr/>
        </p:nvSpPr>
        <p:spPr>
          <a:xfrm>
            <a:off x="812800" y="3848762"/>
            <a:ext cx="5458751" cy="609600"/>
          </a:xfrm>
          <a:custGeom>
            <a:avLst/>
            <a:gdLst/>
            <a:ahLst/>
            <a:cxnLst/>
            <a:rect l="l" t="t" r="r" b="b"/>
            <a:pathLst>
              <a:path w="5458751" h="609600">
                <a:moveTo>
                  <a:pt x="0" y="101600"/>
                </a:moveTo>
                <a:arcTo hR="101600" wR="101600" stAng="10800000" swAng="5400000"/>
                <a:lnTo>
                  <a:pt x="5458751" y="0"/>
                </a:lnTo>
                <a:lnTo>
                  <a:pt x="5458751" y="609600"/>
                </a:lnTo>
                <a:lnTo>
                  <a:pt x="101600" y="609600"/>
                </a:lnTo>
                <a:arcTo hR="101600" wR="101600" stAng="5400000" swAng="5400000"/>
                <a:close/>
              </a:path>
            </a:pathLst>
          </a:custGeom>
          <a:solidFill>
            <a:srgbClr val="60A5FA"/>
          </a:solidFill>
          <a:ln/>
        </p:spPr>
        <p:txBody>
          <a:bodyPr wrap="square" lIns="203200" tIns="0" rIns="203200" bIns="0" rtlCol="0" anchor="ctr">
            <a:normAutofit/>
          </a:bodyPr>
          <a:lstStyle/>
          <a:p>
            <a:pPr algn="l" indent="0" marL="0">
              <a:lnSpc>
                <a:spcPts val="1680"/>
              </a:lnSpc>
              <a:buNone/>
            </a:pPr>
            <a:r>
              <a:rPr lang="en-US" sz="1200" b="1" dirty="0">
                <a:solidFill>
                  <a:srgbClr val="0B1B3D"/>
                </a:solidFill>
                <a:latin typeface="Arial" pitchFamily="34" charset="0"/>
                <a:ea typeface="Arial" pitchFamily="34" charset="-122"/>
                <a:cs typeface="Arial" pitchFamily="34" charset="-120"/>
              </a:rPr>
              <a:t>Edible (e) · 4,208 · 51.8%</a:t>
            </a:r>
            <a:endParaRPr lang="en-US" sz="1200" dirty="0"/>
          </a:p>
        </p:txBody>
      </p:sp>
      <p:sp>
        <p:nvSpPr>
          <p:cNvPr id="20" name="Text 16"/>
          <p:cNvSpPr/>
          <p:nvPr/>
        </p:nvSpPr>
        <p:spPr>
          <a:xfrm>
            <a:off x="6271551" y="3848762"/>
            <a:ext cx="5107649" cy="609600"/>
          </a:xfrm>
          <a:custGeom>
            <a:avLst/>
            <a:gdLst/>
            <a:ahLst/>
            <a:cxnLst/>
            <a:rect l="l" t="t" r="r" b="b"/>
            <a:pathLst>
              <a:path w="5107649" h="609600">
                <a:moveTo>
                  <a:pt x="5006049" y="0"/>
                </a:moveTo>
                <a:arcTo hR="101600" wR="101600" stAng="16200000" swAng="5400000"/>
                <a:lnTo>
                  <a:pt x="5107649" y="508000"/>
                </a:lnTo>
                <a:arcTo hR="101600" wR="101600" stAng="0" swAng="5400000"/>
                <a:lnTo>
                  <a:pt x="0" y="609600"/>
                </a:lnTo>
                <a:lnTo>
                  <a:pt x="0" y="0"/>
                </a:lnTo>
                <a:close/>
              </a:path>
            </a:pathLst>
          </a:custGeom>
          <a:solidFill>
            <a:srgbClr val="1E3A8A"/>
          </a:solidFill>
          <a:ln/>
        </p:spPr>
        <p:txBody>
          <a:bodyPr wrap="square" lIns="203200" tIns="0" rIns="203200" bIns="0" rtlCol="0" anchor="ctr">
            <a:normAutofit/>
          </a:bodyPr>
          <a:lstStyle/>
          <a:p>
            <a:pPr algn="r" indent="0" marL="0">
              <a:lnSpc>
                <a:spcPts val="1680"/>
              </a:lnSpc>
              <a:buNone/>
            </a:pPr>
            <a:r>
              <a:rPr lang="en-US" sz="1200" b="1" dirty="0">
                <a:solidFill>
                  <a:srgbClr val="F3F7FE"/>
                </a:solidFill>
                <a:latin typeface="Arial" pitchFamily="34" charset="0"/>
                <a:ea typeface="Arial" pitchFamily="34" charset="-122"/>
                <a:cs typeface="Arial" pitchFamily="34" charset="-120"/>
              </a:rPr>
              <a:t>Poisonous (p) · 3,916 · 48.2%</a:t>
            </a:r>
            <a:endParaRPr lang="en-US" sz="1200" dirty="0"/>
          </a:p>
        </p:txBody>
      </p:sp>
      <p:sp>
        <p:nvSpPr>
          <p:cNvPr id="21" name="Text 17"/>
          <p:cNvSpPr/>
          <p:nvPr/>
        </p:nvSpPr>
        <p:spPr>
          <a:xfrm>
            <a:off x="812800" y="6238280"/>
            <a:ext cx="29678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58C"/>
                </a:solidFill>
                <a:latin typeface="Arial" pitchFamily="34" charset="0"/>
                <a:ea typeface="Arial" pitchFamily="34" charset="-122"/>
                <a:cs typeface="Arial" pitchFamily="34" charset="-120"/>
              </a:rPr>
              <a:t>Mushroom Prediction · Train &amp; serve</a:t>
            </a:r>
            <a:endParaRPr lang="en-US" sz="1200" dirty="0"/>
          </a:p>
        </p:txBody>
      </p:sp>
      <p:sp>
        <p:nvSpPr>
          <p:cNvPr id="22" name="Text 18"/>
          <p:cNvSpPr/>
          <p:nvPr/>
        </p:nvSpPr>
        <p:spPr>
          <a:xfrm>
            <a:off x="10830005" y="6238280"/>
            <a:ext cx="549196"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2658C"/>
                </a:solidFill>
                <a:latin typeface="Arial" pitchFamily="34" charset="0"/>
                <a:ea typeface="Arial" pitchFamily="34" charset="-122"/>
                <a:cs typeface="Arial" pitchFamily="34" charset="-120"/>
              </a:rPr>
              <a:t>03 / 11</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7FE"/>
        </a:solidFill>
      </p:bgPr>
    </p:bg>
    <p:spTree>
      <p:nvGrpSpPr>
        <p:cNvPr id="1" name=""/>
        <p:cNvGrpSpPr/>
        <p:nvPr/>
      </p:nvGrpSpPr>
      <p:grpSpPr>
        <a:xfrm>
          <a:off x="0" y="0"/>
          <a:ext cx="0" cy="0"/>
          <a:chOff x="0" y="0"/>
          <a:chExt cx="0" cy="0"/>
        </a:xfrm>
      </p:grpSpPr>
      <p:pic>
        <p:nvPicPr>
          <p:cNvPr id="2" name="Image 0" descr="Decorative shapes">    </p:cNvPr>
          <p:cNvPicPr>
            <a:picLocks noChangeAspect="1"/>
          </p:cNvPicPr>
          <p:nvPr/>
        </p:nvPicPr>
        <p:blipFill>
          <a:blip r:embed="rId1"/>
          <a:srcRect l="0" r="0" t="0" b="0"/>
          <a:stretch/>
        </p:blipFill>
        <p:spPr>
          <a:xfrm>
            <a:off x="10464800" y="152400"/>
            <a:ext cx="1524000" cy="533400"/>
          </a:xfrm>
          <a:prstGeom prst="rect">
            <a:avLst/>
          </a:prstGeom>
        </p:spPr>
      </p:pic>
      <p:pic>
        <p:nvPicPr>
          <p:cNvPr id="3" name="Image 1" descr="Decorative shapes">    </p:cNvPr>
          <p:cNvPicPr>
            <a:picLocks noChangeAspect="1"/>
          </p:cNvPicPr>
          <p:nvPr/>
        </p:nvPicPr>
        <p:blipFill>
          <a:blip r:embed="rId2"/>
          <a:srcRect l="0" r="0" t="0" b="0"/>
          <a:stretch/>
        </p:blipFill>
        <p:spPr>
          <a:xfrm>
            <a:off x="304800" y="3022600"/>
            <a:ext cx="177800" cy="8128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563EB"/>
                </a:solidFill>
                <a:latin typeface="Arial" pitchFamily="34" charset="0"/>
                <a:ea typeface="Arial" pitchFamily="34" charset="-122"/>
                <a:cs typeface="Arial" pitchFamily="34" charset="-120"/>
              </a:rPr>
              <a:t>01 · DATASET</a:t>
            </a:r>
            <a:endParaRPr lang="en-US" sz="1200" dirty="0"/>
          </a:p>
        </p:txBody>
      </p:sp>
      <p:sp>
        <p:nvSpPr>
          <p:cNvPr id="5" name="Text 1"/>
          <p:cNvSpPr/>
          <p:nvPr>
            <p:ph type="title"/>
          </p:nvPr>
        </p:nvSpPr>
        <p:spPr>
          <a:xfrm>
            <a:off x="812800" y="10769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1B3D"/>
                </a:solidFill>
                <a:latin typeface="Arial" pitchFamily="34" charset="0"/>
                <a:ea typeface="Arial" pitchFamily="34" charset="-122"/>
                <a:cs typeface="Arial" pitchFamily="34" charset="-120"/>
              </a:rPr>
              <a:t>Odor almost gives the answer away</a:t>
            </a:r>
            <a:endParaRPr lang="en-US" sz="3200" dirty="0"/>
          </a:p>
        </p:txBody>
      </p:sp>
      <p:sp>
        <p:nvSpPr>
          <p:cNvPr id="6" name="Shape 2"/>
          <p:cNvSpPr/>
          <p:nvPr/>
        </p:nvSpPr>
        <p:spPr>
          <a:xfrm>
            <a:off x="812800" y="1795661"/>
            <a:ext cx="177800" cy="177800"/>
          </a:xfrm>
          <a:prstGeom prst="roundRect">
            <a:avLst>
              <a:gd name="adj" fmla="val 21429"/>
            </a:avLst>
          </a:prstGeom>
          <a:solidFill>
            <a:srgbClr val="60A5FA"/>
          </a:solidFill>
          <a:ln/>
        </p:spPr>
      </p:sp>
      <p:sp>
        <p:nvSpPr>
          <p:cNvPr id="7" name="Text 3"/>
          <p:cNvSpPr/>
          <p:nvPr/>
        </p:nvSpPr>
        <p:spPr>
          <a:xfrm>
            <a:off x="1066800" y="1777935"/>
            <a:ext cx="78271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B3D"/>
                </a:solidFill>
                <a:latin typeface="Arial" pitchFamily="34" charset="0"/>
                <a:ea typeface="Arial" pitchFamily="34" charset="-122"/>
                <a:cs typeface="Arial" pitchFamily="34" charset="-120"/>
              </a:rPr>
              <a:t>Edible (e)</a:t>
            </a:r>
            <a:endParaRPr lang="en-US" sz="1200" dirty="0"/>
          </a:p>
        </p:txBody>
      </p:sp>
      <p:sp>
        <p:nvSpPr>
          <p:cNvPr id="8" name="Shape 4"/>
          <p:cNvSpPr/>
          <p:nvPr/>
        </p:nvSpPr>
        <p:spPr>
          <a:xfrm>
            <a:off x="1922264" y="1795661"/>
            <a:ext cx="177800" cy="177800"/>
          </a:xfrm>
          <a:prstGeom prst="roundRect">
            <a:avLst>
              <a:gd name="adj" fmla="val 21429"/>
            </a:avLst>
          </a:prstGeom>
          <a:solidFill>
            <a:srgbClr val="1E3A8A"/>
          </a:solidFill>
          <a:ln/>
        </p:spPr>
      </p:sp>
      <p:sp>
        <p:nvSpPr>
          <p:cNvPr id="9" name="Text 5"/>
          <p:cNvSpPr/>
          <p:nvPr/>
        </p:nvSpPr>
        <p:spPr>
          <a:xfrm>
            <a:off x="2176264" y="1777935"/>
            <a:ext cx="11283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B3D"/>
                </a:solidFill>
                <a:latin typeface="Arial" pitchFamily="34" charset="0"/>
                <a:ea typeface="Arial" pitchFamily="34" charset="-122"/>
                <a:cs typeface="Arial" pitchFamily="34" charset="-120"/>
              </a:rPr>
              <a:t>Poisonous (p)</a:t>
            </a:r>
            <a:endParaRPr lang="en-US" sz="1200" dirty="0"/>
          </a:p>
        </p:txBody>
      </p:sp>
      <p:sp>
        <p:nvSpPr>
          <p:cNvPr id="10" name="Text 6"/>
          <p:cNvSpPr/>
          <p:nvPr/>
        </p:nvSpPr>
        <p:spPr>
          <a:xfrm>
            <a:off x="3319793" y="1777935"/>
            <a:ext cx="168727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58C"/>
                </a:solidFill>
                <a:latin typeface="Arial" pitchFamily="34" charset="0"/>
                <a:ea typeface="Arial" pitchFamily="34" charset="-122"/>
                <a:cs typeface="Arial" pitchFamily="34" charset="-120"/>
              </a:rPr>
              <a:t>Mushrooms per odor</a:t>
            </a:r>
            <a:endParaRPr lang="en-US" sz="1200" dirty="0"/>
          </a:p>
        </p:txBody>
      </p:sp>
      <p:sp>
        <p:nvSpPr>
          <p:cNvPr id="11" name="Text 7"/>
          <p:cNvSpPr/>
          <p:nvPr/>
        </p:nvSpPr>
        <p:spPr>
          <a:xfrm>
            <a:off x="812800" y="210046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B3D"/>
                </a:solidFill>
                <a:latin typeface="Arial" pitchFamily="34" charset="0"/>
                <a:ea typeface="Arial" pitchFamily="34" charset="-122"/>
                <a:cs typeface="Arial" pitchFamily="34" charset="-120"/>
              </a:rPr>
              <a:t>none (n)</a:t>
            </a:r>
            <a:endParaRPr lang="en-US" sz="1200" dirty="0"/>
          </a:p>
        </p:txBody>
      </p:sp>
      <p:sp>
        <p:nvSpPr>
          <p:cNvPr id="12" name="Shape 8"/>
          <p:cNvSpPr/>
          <p:nvPr/>
        </p:nvSpPr>
        <p:spPr>
          <a:xfrm>
            <a:off x="2184400" y="2092855"/>
            <a:ext cx="4171950" cy="228600"/>
          </a:xfrm>
          <a:custGeom>
            <a:avLst/>
            <a:gdLst/>
            <a:ahLst/>
            <a:cxnLst/>
            <a:rect l="l" t="t" r="r" b="b"/>
            <a:pathLst>
              <a:path w="4171950" h="228600">
                <a:moveTo>
                  <a:pt x="0" y="38100"/>
                </a:moveTo>
                <a:arcTo hR="38100" wR="38100" stAng="10800000" swAng="5400000"/>
                <a:lnTo>
                  <a:pt x="4171950" y="0"/>
                </a:lnTo>
                <a:lnTo>
                  <a:pt x="4171950" y="228600"/>
                </a:lnTo>
                <a:lnTo>
                  <a:pt x="38100" y="228600"/>
                </a:lnTo>
                <a:arcTo hR="38100" wR="38100" stAng="5400000" swAng="5400000"/>
                <a:close/>
              </a:path>
            </a:pathLst>
          </a:custGeom>
          <a:solidFill>
            <a:srgbClr val="60A5FA"/>
          </a:solidFill>
          <a:ln/>
        </p:spPr>
      </p:sp>
      <p:sp>
        <p:nvSpPr>
          <p:cNvPr id="13" name="Shape 9"/>
          <p:cNvSpPr/>
          <p:nvPr/>
        </p:nvSpPr>
        <p:spPr>
          <a:xfrm>
            <a:off x="6356350" y="2092855"/>
            <a:ext cx="146050" cy="228600"/>
          </a:xfrm>
          <a:custGeom>
            <a:avLst/>
            <a:gdLst/>
            <a:ahLst/>
            <a:cxnLst/>
            <a:rect l="l" t="t" r="r" b="b"/>
            <a:pathLst>
              <a:path w="146050" h="228600">
                <a:moveTo>
                  <a:pt x="107950" y="0"/>
                </a:moveTo>
                <a:arcTo hR="38100" wR="38100" stAng="16200000" swAng="5400000"/>
                <a:lnTo>
                  <a:pt x="146050" y="190500"/>
                </a:lnTo>
                <a:arcTo hR="38100" wR="38100" stAng="0" swAng="5400000"/>
                <a:lnTo>
                  <a:pt x="0" y="228600"/>
                </a:lnTo>
                <a:lnTo>
                  <a:pt x="0" y="0"/>
                </a:lnTo>
                <a:close/>
              </a:path>
            </a:pathLst>
          </a:custGeom>
          <a:solidFill>
            <a:srgbClr val="1E3A8A"/>
          </a:solidFill>
          <a:ln/>
        </p:spPr>
      </p:sp>
      <p:sp>
        <p:nvSpPr>
          <p:cNvPr id="14" name="Text 10"/>
          <p:cNvSpPr/>
          <p:nvPr/>
        </p:nvSpPr>
        <p:spPr>
          <a:xfrm>
            <a:off x="6604000" y="2100461"/>
            <a:ext cx="1230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3,408 e · 120 p</a:t>
            </a:r>
            <a:endParaRPr lang="en-US" sz="1200" dirty="0"/>
          </a:p>
        </p:txBody>
      </p:sp>
      <p:sp>
        <p:nvSpPr>
          <p:cNvPr id="15" name="Text 11"/>
          <p:cNvSpPr/>
          <p:nvPr/>
        </p:nvSpPr>
        <p:spPr>
          <a:xfrm>
            <a:off x="812800" y="243066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B3D"/>
                </a:solidFill>
                <a:latin typeface="Arial" pitchFamily="34" charset="0"/>
                <a:ea typeface="Arial" pitchFamily="34" charset="-122"/>
                <a:cs typeface="Arial" pitchFamily="34" charset="-120"/>
              </a:rPr>
              <a:t>foul (f)</a:t>
            </a:r>
            <a:endParaRPr lang="en-US" sz="1200" dirty="0"/>
          </a:p>
        </p:txBody>
      </p:sp>
      <p:sp>
        <p:nvSpPr>
          <p:cNvPr id="16" name="Shape 12"/>
          <p:cNvSpPr/>
          <p:nvPr/>
        </p:nvSpPr>
        <p:spPr>
          <a:xfrm>
            <a:off x="2184400" y="2423055"/>
            <a:ext cx="2641600" cy="228600"/>
          </a:xfrm>
          <a:prstGeom prst="roundRect">
            <a:avLst>
              <a:gd name="adj" fmla="val 16667"/>
            </a:avLst>
          </a:prstGeom>
          <a:solidFill>
            <a:srgbClr val="1E3A8A"/>
          </a:solidFill>
          <a:ln/>
        </p:spPr>
      </p:sp>
      <p:sp>
        <p:nvSpPr>
          <p:cNvPr id="17" name="Text 13"/>
          <p:cNvSpPr/>
          <p:nvPr/>
        </p:nvSpPr>
        <p:spPr>
          <a:xfrm>
            <a:off x="4927600" y="2430661"/>
            <a:ext cx="61023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2,160 p</a:t>
            </a:r>
            <a:endParaRPr lang="en-US" sz="1200" dirty="0"/>
          </a:p>
        </p:txBody>
      </p:sp>
      <p:sp>
        <p:nvSpPr>
          <p:cNvPr id="18" name="Text 14"/>
          <p:cNvSpPr/>
          <p:nvPr/>
        </p:nvSpPr>
        <p:spPr>
          <a:xfrm>
            <a:off x="812800" y="276086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B3D"/>
                </a:solidFill>
                <a:latin typeface="Arial" pitchFamily="34" charset="0"/>
                <a:ea typeface="Arial" pitchFamily="34" charset="-122"/>
                <a:cs typeface="Arial" pitchFamily="34" charset="-120"/>
              </a:rPr>
              <a:t>fishy (y)</a:t>
            </a:r>
            <a:endParaRPr lang="en-US" sz="1200" dirty="0"/>
          </a:p>
        </p:txBody>
      </p:sp>
      <p:sp>
        <p:nvSpPr>
          <p:cNvPr id="19" name="Shape 15"/>
          <p:cNvSpPr/>
          <p:nvPr/>
        </p:nvSpPr>
        <p:spPr>
          <a:xfrm>
            <a:off x="2184400" y="2753255"/>
            <a:ext cx="704850" cy="228600"/>
          </a:xfrm>
          <a:prstGeom prst="roundRect">
            <a:avLst>
              <a:gd name="adj" fmla="val 16667"/>
            </a:avLst>
          </a:prstGeom>
          <a:solidFill>
            <a:srgbClr val="1E3A8A"/>
          </a:solidFill>
          <a:ln/>
        </p:spPr>
      </p:sp>
      <p:sp>
        <p:nvSpPr>
          <p:cNvPr id="20" name="Text 16"/>
          <p:cNvSpPr/>
          <p:nvPr/>
        </p:nvSpPr>
        <p:spPr>
          <a:xfrm>
            <a:off x="2990850" y="2760861"/>
            <a:ext cx="4576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576 p</a:t>
            </a:r>
            <a:endParaRPr lang="en-US" sz="1200" dirty="0"/>
          </a:p>
        </p:txBody>
      </p:sp>
      <p:sp>
        <p:nvSpPr>
          <p:cNvPr id="21" name="Text 17"/>
          <p:cNvSpPr/>
          <p:nvPr/>
        </p:nvSpPr>
        <p:spPr>
          <a:xfrm>
            <a:off x="812800" y="309106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B3D"/>
                </a:solidFill>
                <a:latin typeface="Arial" pitchFamily="34" charset="0"/>
                <a:ea typeface="Arial" pitchFamily="34" charset="-122"/>
                <a:cs typeface="Arial" pitchFamily="34" charset="-120"/>
              </a:rPr>
              <a:t>spicy (s)</a:t>
            </a:r>
            <a:endParaRPr lang="en-US" sz="1200" dirty="0"/>
          </a:p>
        </p:txBody>
      </p:sp>
      <p:sp>
        <p:nvSpPr>
          <p:cNvPr id="22" name="Shape 18"/>
          <p:cNvSpPr/>
          <p:nvPr/>
        </p:nvSpPr>
        <p:spPr>
          <a:xfrm>
            <a:off x="2184400" y="3083455"/>
            <a:ext cx="704850" cy="228600"/>
          </a:xfrm>
          <a:prstGeom prst="roundRect">
            <a:avLst>
              <a:gd name="adj" fmla="val 16667"/>
            </a:avLst>
          </a:prstGeom>
          <a:solidFill>
            <a:srgbClr val="1E3A8A"/>
          </a:solidFill>
          <a:ln/>
        </p:spPr>
      </p:sp>
      <p:sp>
        <p:nvSpPr>
          <p:cNvPr id="23" name="Text 19"/>
          <p:cNvSpPr/>
          <p:nvPr/>
        </p:nvSpPr>
        <p:spPr>
          <a:xfrm>
            <a:off x="2990850" y="3091061"/>
            <a:ext cx="4576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576 p</a:t>
            </a:r>
            <a:endParaRPr lang="en-US" sz="1200" dirty="0"/>
          </a:p>
        </p:txBody>
      </p:sp>
      <p:sp>
        <p:nvSpPr>
          <p:cNvPr id="24" name="Text 20"/>
          <p:cNvSpPr/>
          <p:nvPr/>
        </p:nvSpPr>
        <p:spPr>
          <a:xfrm>
            <a:off x="812800" y="342126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B3D"/>
                </a:solidFill>
                <a:latin typeface="Arial" pitchFamily="34" charset="0"/>
                <a:ea typeface="Arial" pitchFamily="34" charset="-122"/>
                <a:cs typeface="Arial" pitchFamily="34" charset="-120"/>
              </a:rPr>
              <a:t>almond (a)</a:t>
            </a:r>
            <a:endParaRPr lang="en-US" sz="1200" dirty="0"/>
          </a:p>
        </p:txBody>
      </p:sp>
      <p:sp>
        <p:nvSpPr>
          <p:cNvPr id="25" name="Shape 21"/>
          <p:cNvSpPr/>
          <p:nvPr/>
        </p:nvSpPr>
        <p:spPr>
          <a:xfrm>
            <a:off x="2184400" y="3413655"/>
            <a:ext cx="488950" cy="228600"/>
          </a:xfrm>
          <a:prstGeom prst="roundRect">
            <a:avLst>
              <a:gd name="adj" fmla="val 16667"/>
            </a:avLst>
          </a:prstGeom>
          <a:solidFill>
            <a:srgbClr val="60A5FA"/>
          </a:solidFill>
          <a:ln/>
        </p:spPr>
      </p:sp>
      <p:sp>
        <p:nvSpPr>
          <p:cNvPr id="26" name="Text 22"/>
          <p:cNvSpPr/>
          <p:nvPr/>
        </p:nvSpPr>
        <p:spPr>
          <a:xfrm>
            <a:off x="2774950" y="3421261"/>
            <a:ext cx="4576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400 e</a:t>
            </a:r>
            <a:endParaRPr lang="en-US" sz="1200" dirty="0"/>
          </a:p>
        </p:txBody>
      </p:sp>
      <p:sp>
        <p:nvSpPr>
          <p:cNvPr id="27" name="Text 23"/>
          <p:cNvSpPr/>
          <p:nvPr/>
        </p:nvSpPr>
        <p:spPr>
          <a:xfrm>
            <a:off x="812800" y="375146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B3D"/>
                </a:solidFill>
                <a:latin typeface="Arial" pitchFamily="34" charset="0"/>
                <a:ea typeface="Arial" pitchFamily="34" charset="-122"/>
                <a:cs typeface="Arial" pitchFamily="34" charset="-120"/>
              </a:rPr>
              <a:t>anise (l)</a:t>
            </a:r>
            <a:endParaRPr lang="en-US" sz="1200" dirty="0"/>
          </a:p>
        </p:txBody>
      </p:sp>
      <p:sp>
        <p:nvSpPr>
          <p:cNvPr id="28" name="Shape 24"/>
          <p:cNvSpPr/>
          <p:nvPr/>
        </p:nvSpPr>
        <p:spPr>
          <a:xfrm>
            <a:off x="2184400" y="3743855"/>
            <a:ext cx="488950" cy="228600"/>
          </a:xfrm>
          <a:prstGeom prst="roundRect">
            <a:avLst>
              <a:gd name="adj" fmla="val 16667"/>
            </a:avLst>
          </a:prstGeom>
          <a:solidFill>
            <a:srgbClr val="60A5FA"/>
          </a:solidFill>
          <a:ln/>
        </p:spPr>
      </p:sp>
      <p:sp>
        <p:nvSpPr>
          <p:cNvPr id="29" name="Text 25"/>
          <p:cNvSpPr/>
          <p:nvPr/>
        </p:nvSpPr>
        <p:spPr>
          <a:xfrm>
            <a:off x="2774950" y="3751461"/>
            <a:ext cx="4576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400 e</a:t>
            </a:r>
            <a:endParaRPr lang="en-US" sz="1200" dirty="0"/>
          </a:p>
        </p:txBody>
      </p:sp>
      <p:sp>
        <p:nvSpPr>
          <p:cNvPr id="30" name="Text 26"/>
          <p:cNvSpPr/>
          <p:nvPr/>
        </p:nvSpPr>
        <p:spPr>
          <a:xfrm>
            <a:off x="812800" y="408166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B3D"/>
                </a:solidFill>
                <a:latin typeface="Arial" pitchFamily="34" charset="0"/>
                <a:ea typeface="Arial" pitchFamily="34" charset="-122"/>
                <a:cs typeface="Arial" pitchFamily="34" charset="-120"/>
              </a:rPr>
              <a:t>pungent (p)</a:t>
            </a:r>
            <a:endParaRPr lang="en-US" sz="1200" dirty="0"/>
          </a:p>
        </p:txBody>
      </p:sp>
      <p:sp>
        <p:nvSpPr>
          <p:cNvPr id="31" name="Shape 27"/>
          <p:cNvSpPr/>
          <p:nvPr/>
        </p:nvSpPr>
        <p:spPr>
          <a:xfrm>
            <a:off x="2184400" y="4074055"/>
            <a:ext cx="311150" cy="228600"/>
          </a:xfrm>
          <a:prstGeom prst="roundRect">
            <a:avLst>
              <a:gd name="adj" fmla="val 16667"/>
            </a:avLst>
          </a:prstGeom>
          <a:solidFill>
            <a:srgbClr val="1E3A8A"/>
          </a:solidFill>
          <a:ln/>
        </p:spPr>
      </p:sp>
      <p:sp>
        <p:nvSpPr>
          <p:cNvPr id="32" name="Text 28"/>
          <p:cNvSpPr/>
          <p:nvPr/>
        </p:nvSpPr>
        <p:spPr>
          <a:xfrm>
            <a:off x="2597150" y="4081661"/>
            <a:ext cx="4576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256 p</a:t>
            </a:r>
            <a:endParaRPr lang="en-US" sz="1200" dirty="0"/>
          </a:p>
        </p:txBody>
      </p:sp>
      <p:sp>
        <p:nvSpPr>
          <p:cNvPr id="33" name="Text 29"/>
          <p:cNvSpPr/>
          <p:nvPr/>
        </p:nvSpPr>
        <p:spPr>
          <a:xfrm>
            <a:off x="812800" y="441186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B3D"/>
                </a:solidFill>
                <a:latin typeface="Arial" pitchFamily="34" charset="0"/>
                <a:ea typeface="Arial" pitchFamily="34" charset="-122"/>
                <a:cs typeface="Arial" pitchFamily="34" charset="-120"/>
              </a:rPr>
              <a:t>creosote (c)</a:t>
            </a:r>
            <a:endParaRPr lang="en-US" sz="1200" dirty="0"/>
          </a:p>
        </p:txBody>
      </p:sp>
      <p:sp>
        <p:nvSpPr>
          <p:cNvPr id="34" name="Shape 30"/>
          <p:cNvSpPr/>
          <p:nvPr/>
        </p:nvSpPr>
        <p:spPr>
          <a:xfrm>
            <a:off x="2184400" y="4404255"/>
            <a:ext cx="234950" cy="228600"/>
          </a:xfrm>
          <a:prstGeom prst="roundRect">
            <a:avLst>
              <a:gd name="adj" fmla="val 16667"/>
            </a:avLst>
          </a:prstGeom>
          <a:solidFill>
            <a:srgbClr val="1E3A8A"/>
          </a:solidFill>
          <a:ln/>
        </p:spPr>
      </p:sp>
      <p:sp>
        <p:nvSpPr>
          <p:cNvPr id="35" name="Text 31"/>
          <p:cNvSpPr/>
          <p:nvPr/>
        </p:nvSpPr>
        <p:spPr>
          <a:xfrm>
            <a:off x="2520950" y="4411861"/>
            <a:ext cx="45767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192 p</a:t>
            </a:r>
            <a:endParaRPr lang="en-US" sz="1200" dirty="0"/>
          </a:p>
        </p:txBody>
      </p:sp>
      <p:sp>
        <p:nvSpPr>
          <p:cNvPr id="36" name="Text 32"/>
          <p:cNvSpPr/>
          <p:nvPr/>
        </p:nvSpPr>
        <p:spPr>
          <a:xfrm>
            <a:off x="812800" y="4742061"/>
            <a:ext cx="1320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B1B3D"/>
                </a:solidFill>
                <a:latin typeface="Arial" pitchFamily="34" charset="0"/>
                <a:ea typeface="Arial" pitchFamily="34" charset="-122"/>
                <a:cs typeface="Arial" pitchFamily="34" charset="-120"/>
              </a:rPr>
              <a:t>musty (m)</a:t>
            </a:r>
            <a:endParaRPr lang="en-US" sz="1200" dirty="0"/>
          </a:p>
        </p:txBody>
      </p:sp>
      <p:sp>
        <p:nvSpPr>
          <p:cNvPr id="37" name="Shape 33"/>
          <p:cNvSpPr/>
          <p:nvPr/>
        </p:nvSpPr>
        <p:spPr>
          <a:xfrm>
            <a:off x="2184400" y="4734455"/>
            <a:ext cx="44450" cy="228600"/>
          </a:xfrm>
          <a:prstGeom prst="roundRect">
            <a:avLst>
              <a:gd name="adj" fmla="val 42857"/>
            </a:avLst>
          </a:prstGeom>
          <a:solidFill>
            <a:srgbClr val="1E3A8A"/>
          </a:solidFill>
          <a:ln/>
        </p:spPr>
      </p:sp>
      <p:sp>
        <p:nvSpPr>
          <p:cNvPr id="38" name="Text 34"/>
          <p:cNvSpPr/>
          <p:nvPr/>
        </p:nvSpPr>
        <p:spPr>
          <a:xfrm>
            <a:off x="2330450" y="4742061"/>
            <a:ext cx="35599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36 p</a:t>
            </a:r>
            <a:endParaRPr lang="en-US" sz="1200" dirty="0"/>
          </a:p>
        </p:txBody>
      </p:sp>
      <p:sp>
        <p:nvSpPr>
          <p:cNvPr id="39" name="Shape 35"/>
          <p:cNvSpPr/>
          <p:nvPr/>
        </p:nvSpPr>
        <p:spPr>
          <a:xfrm>
            <a:off x="8331200" y="1777935"/>
            <a:ext cx="3048000" cy="2994422"/>
          </a:xfrm>
          <a:prstGeom prst="roundRect">
            <a:avLst>
              <a:gd name="adj" fmla="val 5089"/>
            </a:avLst>
          </a:prstGeom>
          <a:solidFill>
            <a:srgbClr val="0A1A3F"/>
          </a:solidFill>
          <a:ln/>
        </p:spPr>
      </p:sp>
      <p:sp>
        <p:nvSpPr>
          <p:cNvPr id="40" name="Text 36"/>
          <p:cNvSpPr/>
          <p:nvPr/>
        </p:nvSpPr>
        <p:spPr>
          <a:xfrm>
            <a:off x="8636000" y="2082735"/>
            <a:ext cx="2511552"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7DD3FC"/>
                </a:solidFill>
                <a:latin typeface="Arial" pitchFamily="34" charset="0"/>
                <a:ea typeface="Arial" pitchFamily="34" charset="-122"/>
                <a:cs typeface="Arial" pitchFamily="34" charset="-120"/>
              </a:rPr>
              <a:t>8 of 9</a:t>
            </a:r>
            <a:endParaRPr lang="en-US" sz="4800" dirty="0"/>
          </a:p>
        </p:txBody>
      </p:sp>
      <p:sp>
        <p:nvSpPr>
          <p:cNvPr id="41" name="Text 37"/>
          <p:cNvSpPr/>
          <p:nvPr/>
        </p:nvSpPr>
        <p:spPr>
          <a:xfrm>
            <a:off x="8636000" y="2819335"/>
            <a:ext cx="2511552" cy="553641"/>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F3F7FE"/>
                </a:solidFill>
                <a:latin typeface="Arial" pitchFamily="34" charset="0"/>
                <a:ea typeface="Arial" pitchFamily="34" charset="-122"/>
                <a:cs typeface="Arial" pitchFamily="34" charset="-120"/>
              </a:rPr>
              <a:t>odor values belong to a single class</a:t>
            </a:r>
            <a:endParaRPr lang="en-US" sz="1600" dirty="0"/>
          </a:p>
        </p:txBody>
      </p:sp>
      <p:pic>
        <p:nvPicPr>
          <p:cNvPr id="42" name="Image 2" descr="line">    </p:cNvPr>
          <p:cNvPicPr>
            <a:picLocks noChangeAspect="1"/>
          </p:cNvPicPr>
          <p:nvPr/>
        </p:nvPicPr>
        <p:blipFill>
          <a:blip r:embed="rId3"/>
          <a:srcRect l="0" r="0" t="0" b="0"/>
          <a:stretch/>
        </p:blipFill>
        <p:spPr>
          <a:xfrm>
            <a:off x="8636000" y="3474576"/>
            <a:ext cx="2438400" cy="12700"/>
          </a:xfrm>
          <a:prstGeom prst="rect">
            <a:avLst/>
          </a:prstGeom>
        </p:spPr>
      </p:pic>
      <p:sp>
        <p:nvSpPr>
          <p:cNvPr id="43" name="Text 38"/>
          <p:cNvSpPr/>
          <p:nvPr/>
        </p:nvSpPr>
        <p:spPr>
          <a:xfrm>
            <a:off x="8636000" y="3614276"/>
            <a:ext cx="2511552" cy="87868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3F2"/>
                </a:solidFill>
                <a:latin typeface="Arial" pitchFamily="34" charset="0"/>
                <a:ea typeface="Arial" pitchFamily="34" charset="-122"/>
                <a:cs typeface="Arial" pitchFamily="34" charset="-120"/>
              </a:rPr>
              <a:t>Only “none” is mixed: 3,408 edible vs 120 poisonous. That is why even a simple linear model scores so high.</a:t>
            </a:r>
            <a:endParaRPr lang="en-US" sz="1200" dirty="0"/>
          </a:p>
        </p:txBody>
      </p:sp>
      <p:sp>
        <p:nvSpPr>
          <p:cNvPr id="44" name="Text 39"/>
          <p:cNvSpPr/>
          <p:nvPr/>
        </p:nvSpPr>
        <p:spPr>
          <a:xfrm>
            <a:off x="812800" y="6238280"/>
            <a:ext cx="541694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58C"/>
                </a:solidFill>
                <a:latin typeface="Arial" pitchFamily="34" charset="0"/>
                <a:ea typeface="Arial" pitchFamily="34" charset="-122"/>
                <a:cs typeface="Arial" pitchFamily="34" charset="-120"/>
              </a:rPr>
              <a:t>Mushroom Prediction · Train &amp; serve · counts from mushrooms.csv</a:t>
            </a:r>
            <a:endParaRPr lang="en-US" sz="1200" dirty="0"/>
          </a:p>
        </p:txBody>
      </p:sp>
      <p:sp>
        <p:nvSpPr>
          <p:cNvPr id="45" name="Text 40"/>
          <p:cNvSpPr/>
          <p:nvPr/>
        </p:nvSpPr>
        <p:spPr>
          <a:xfrm>
            <a:off x="10830005" y="6238280"/>
            <a:ext cx="549196"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2658C"/>
                </a:solidFill>
                <a:latin typeface="Arial" pitchFamily="34" charset="0"/>
                <a:ea typeface="Arial" pitchFamily="34" charset="-122"/>
                <a:cs typeface="Arial" pitchFamily="34" charset="-120"/>
              </a:rPr>
              <a:t>04 / 11</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7FE"/>
        </a:solidFill>
      </p:bgPr>
    </p:bg>
    <p:spTree>
      <p:nvGrpSpPr>
        <p:cNvPr id="1" name=""/>
        <p:cNvGrpSpPr/>
        <p:nvPr/>
      </p:nvGrpSpPr>
      <p:grpSpPr>
        <a:xfrm>
          <a:off x="0" y="0"/>
          <a:ext cx="0" cy="0"/>
          <a:chOff x="0" y="0"/>
          <a:chExt cx="0" cy="0"/>
        </a:xfrm>
      </p:grpSpPr>
      <p:pic>
        <p:nvPicPr>
          <p:cNvPr id="2" name="Image 0" descr="Decorative shapes">    </p:cNvPr>
          <p:cNvPicPr>
            <a:picLocks noChangeAspect="1"/>
          </p:cNvPicPr>
          <p:nvPr/>
        </p:nvPicPr>
        <p:blipFill>
          <a:blip r:embed="rId1"/>
          <a:srcRect l="0" r="0" t="0" b="0"/>
          <a:stretch/>
        </p:blipFill>
        <p:spPr>
          <a:xfrm>
            <a:off x="10464800" y="152400"/>
            <a:ext cx="1524000" cy="5334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563EB"/>
                </a:solidFill>
                <a:latin typeface="Arial" pitchFamily="34" charset="0"/>
                <a:ea typeface="Arial" pitchFamily="34" charset="-122"/>
                <a:cs typeface="Arial" pitchFamily="34" charset="-120"/>
              </a:rPr>
              <a:t>02 · TRAINING</a:t>
            </a:r>
            <a:endParaRPr lang="en-US" sz="1200" dirty="0"/>
          </a:p>
        </p:txBody>
      </p:sp>
      <p:sp>
        <p:nvSpPr>
          <p:cNvPr id="4" name="Text 1"/>
          <p:cNvSpPr/>
          <p:nvPr>
            <p:ph type="title"/>
          </p:nvPr>
        </p:nvSpPr>
        <p:spPr>
          <a:xfrm>
            <a:off x="812800" y="10769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1B3D"/>
                </a:solidFill>
                <a:latin typeface="Arial" pitchFamily="34" charset="0"/>
                <a:ea typeface="Arial" pitchFamily="34" charset="-122"/>
                <a:cs typeface="Arial" pitchFamily="34" charset="-120"/>
              </a:rPr>
              <a:t>The training pipeline, step by step</a:t>
            </a:r>
            <a:endParaRPr lang="en-US" sz="3200" dirty="0"/>
          </a:p>
        </p:txBody>
      </p:sp>
      <p:sp>
        <p:nvSpPr>
          <p:cNvPr id="5" name="Shape 2"/>
          <p:cNvSpPr/>
          <p:nvPr/>
        </p:nvSpPr>
        <p:spPr>
          <a:xfrm>
            <a:off x="815975" y="1781110"/>
            <a:ext cx="1781770" cy="1678384"/>
          </a:xfrm>
          <a:prstGeom prst="roundRect">
            <a:avLst>
              <a:gd name="adj" fmla="val 7378"/>
            </a:avLst>
          </a:prstGeom>
          <a:solidFill>
            <a:srgbClr val="FBFCFF"/>
          </a:solidFill>
          <a:ln w="6350">
            <a:solidFill>
              <a:srgbClr val="D6E2F7"/>
            </a:solidFill>
            <a:prstDash val="solid"/>
          </a:ln>
        </p:spPr>
      </p:sp>
      <p:pic>
        <p:nvPicPr>
          <p:cNvPr id="6" name="Image 1" descr="Database">    </p:cNvPr>
          <p:cNvPicPr>
            <a:picLocks noChangeAspect="1"/>
          </p:cNvPicPr>
          <p:nvPr/>
        </p:nvPicPr>
        <p:blipFill>
          <a:blip r:embed="rId2"/>
          <a:srcRect l="0" r="0" t="0" b="0"/>
          <a:stretch/>
        </p:blipFill>
        <p:spPr>
          <a:xfrm>
            <a:off x="969433" y="1934567"/>
            <a:ext cx="304800" cy="304800"/>
          </a:xfrm>
          <a:prstGeom prst="rect">
            <a:avLst/>
          </a:prstGeom>
        </p:spPr>
      </p:pic>
      <p:sp>
        <p:nvSpPr>
          <p:cNvPr id="7" name="Text 3"/>
          <p:cNvSpPr/>
          <p:nvPr/>
        </p:nvSpPr>
        <p:spPr>
          <a:xfrm>
            <a:off x="969433" y="2315567"/>
            <a:ext cx="1525654"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D"/>
                </a:solidFill>
                <a:latin typeface="Arial" pitchFamily="34" charset="0"/>
                <a:ea typeface="Arial" pitchFamily="34" charset="-122"/>
                <a:cs typeface="Arial" pitchFamily="34" charset="-120"/>
              </a:rPr>
              <a:t>Load CSV</a:t>
            </a:r>
            <a:endParaRPr lang="en-US" sz="1600" dirty="0"/>
          </a:p>
        </p:txBody>
      </p:sp>
      <p:sp>
        <p:nvSpPr>
          <p:cNvPr id="8" name="Text 4"/>
          <p:cNvSpPr/>
          <p:nvPr/>
        </p:nvSpPr>
        <p:spPr>
          <a:xfrm>
            <a:off x="969433" y="2635582"/>
            <a:ext cx="15256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8,124 rows · 22 features + class</a:t>
            </a:r>
            <a:endParaRPr lang="en-US" sz="1200" dirty="0"/>
          </a:p>
        </p:txBody>
      </p:sp>
      <p:pic>
        <p:nvPicPr>
          <p:cNvPr id="9" name="Image 2" descr="arrow-right">    </p:cNvPr>
          <p:cNvPicPr>
            <a:picLocks noChangeAspect="1"/>
          </p:cNvPicPr>
          <p:nvPr/>
        </p:nvPicPr>
        <p:blipFill>
          <a:blip r:embed="rId3"/>
          <a:srcRect l="0" r="0" t="0" b="0"/>
          <a:stretch/>
        </p:blipFill>
        <p:spPr>
          <a:xfrm>
            <a:off x="2677120" y="2556802"/>
            <a:ext cx="254000" cy="127000"/>
          </a:xfrm>
          <a:prstGeom prst="rect">
            <a:avLst/>
          </a:prstGeom>
        </p:spPr>
      </p:pic>
      <p:sp>
        <p:nvSpPr>
          <p:cNvPr id="10" name="Shape 5"/>
          <p:cNvSpPr/>
          <p:nvPr/>
        </p:nvSpPr>
        <p:spPr>
          <a:xfrm>
            <a:off x="3010495" y="1781110"/>
            <a:ext cx="1781837" cy="1678384"/>
          </a:xfrm>
          <a:prstGeom prst="roundRect">
            <a:avLst>
              <a:gd name="adj" fmla="val 7378"/>
            </a:avLst>
          </a:prstGeom>
          <a:solidFill>
            <a:srgbClr val="FBFCFF"/>
          </a:solidFill>
          <a:ln w="6350">
            <a:solidFill>
              <a:srgbClr val="D6E2F7"/>
            </a:solidFill>
            <a:prstDash val="solid"/>
          </a:ln>
        </p:spPr>
      </p:sp>
      <p:pic>
        <p:nvPicPr>
          <p:cNvPr id="11" name="Image 3" descr="Chart">    </p:cNvPr>
          <p:cNvPicPr>
            <a:picLocks noChangeAspect="1"/>
          </p:cNvPicPr>
          <p:nvPr/>
        </p:nvPicPr>
        <p:blipFill>
          <a:blip r:embed="rId4"/>
          <a:srcRect l="0" r="0" t="0" b="0"/>
          <a:stretch/>
        </p:blipFill>
        <p:spPr>
          <a:xfrm>
            <a:off x="3163954" y="1934567"/>
            <a:ext cx="304800" cy="304800"/>
          </a:xfrm>
          <a:prstGeom prst="rect">
            <a:avLst/>
          </a:prstGeom>
        </p:spPr>
      </p:pic>
      <p:sp>
        <p:nvSpPr>
          <p:cNvPr id="12" name="Text 6"/>
          <p:cNvSpPr/>
          <p:nvPr/>
        </p:nvSpPr>
        <p:spPr>
          <a:xfrm>
            <a:off x="3163954" y="2315567"/>
            <a:ext cx="152572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D"/>
                </a:solidFill>
                <a:latin typeface="Arial" pitchFamily="34" charset="0"/>
                <a:ea typeface="Arial" pitchFamily="34" charset="-122"/>
                <a:cs typeface="Arial" pitchFamily="34" charset="-120"/>
              </a:rPr>
              <a:t>Stratified split</a:t>
            </a:r>
            <a:endParaRPr lang="en-US" sz="1600" dirty="0"/>
          </a:p>
        </p:txBody>
      </p:sp>
      <p:sp>
        <p:nvSpPr>
          <p:cNvPr id="13" name="Text 7"/>
          <p:cNvSpPr/>
          <p:nvPr/>
        </p:nvSpPr>
        <p:spPr>
          <a:xfrm>
            <a:off x="3163954" y="2635582"/>
            <a:ext cx="15257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6,499 train / 1,625 test</a:t>
            </a:r>
            <a:endParaRPr lang="en-US" sz="1200" dirty="0"/>
          </a:p>
        </p:txBody>
      </p:sp>
      <p:pic>
        <p:nvPicPr>
          <p:cNvPr id="14" name="Image 4" descr="arrow-right">    </p:cNvPr>
          <p:cNvPicPr>
            <a:picLocks noChangeAspect="1"/>
          </p:cNvPicPr>
          <p:nvPr/>
        </p:nvPicPr>
        <p:blipFill>
          <a:blip r:embed="rId5"/>
          <a:srcRect l="0" r="0" t="0" b="0"/>
          <a:stretch/>
        </p:blipFill>
        <p:spPr>
          <a:xfrm>
            <a:off x="4871707" y="2556802"/>
            <a:ext cx="254000" cy="127000"/>
          </a:xfrm>
          <a:prstGeom prst="rect">
            <a:avLst/>
          </a:prstGeom>
        </p:spPr>
      </p:pic>
      <p:sp>
        <p:nvSpPr>
          <p:cNvPr id="15" name="Shape 8"/>
          <p:cNvSpPr/>
          <p:nvPr/>
        </p:nvSpPr>
        <p:spPr>
          <a:xfrm>
            <a:off x="5205082" y="1781110"/>
            <a:ext cx="1781770" cy="1678384"/>
          </a:xfrm>
          <a:prstGeom prst="roundRect">
            <a:avLst>
              <a:gd name="adj" fmla="val 7378"/>
            </a:avLst>
          </a:prstGeom>
          <a:solidFill>
            <a:srgbClr val="FBFCFF"/>
          </a:solidFill>
          <a:ln w="6350">
            <a:solidFill>
              <a:srgbClr val="D6E2F7"/>
            </a:solidFill>
            <a:prstDash val="solid"/>
          </a:ln>
        </p:spPr>
      </p:sp>
      <p:pic>
        <p:nvPicPr>
          <p:cNvPr id="16" name="Image 5" descr="Code">    </p:cNvPr>
          <p:cNvPicPr>
            <a:picLocks noChangeAspect="1"/>
          </p:cNvPicPr>
          <p:nvPr/>
        </p:nvPicPr>
        <p:blipFill>
          <a:blip r:embed="rId6"/>
          <a:srcRect l="0" r="0" t="0" b="0"/>
          <a:stretch/>
        </p:blipFill>
        <p:spPr>
          <a:xfrm>
            <a:off x="5358540" y="1934567"/>
            <a:ext cx="304800" cy="304800"/>
          </a:xfrm>
          <a:prstGeom prst="rect">
            <a:avLst/>
          </a:prstGeom>
        </p:spPr>
      </p:pic>
      <p:sp>
        <p:nvSpPr>
          <p:cNvPr id="17" name="Text 9"/>
          <p:cNvSpPr/>
          <p:nvPr/>
        </p:nvSpPr>
        <p:spPr>
          <a:xfrm>
            <a:off x="5358540" y="2315567"/>
            <a:ext cx="1525654" cy="51302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D"/>
                </a:solidFill>
                <a:latin typeface="Arial" pitchFamily="34" charset="0"/>
                <a:ea typeface="Arial" pitchFamily="34" charset="-122"/>
                <a:cs typeface="Arial" pitchFamily="34" charset="-120"/>
              </a:rPr>
              <a:t>One-hot encode</a:t>
            </a:r>
            <a:endParaRPr lang="en-US" sz="1600" dirty="0"/>
          </a:p>
        </p:txBody>
      </p:sp>
      <p:sp>
        <p:nvSpPr>
          <p:cNvPr id="18" name="Text 10"/>
          <p:cNvSpPr/>
          <p:nvPr/>
        </p:nvSpPr>
        <p:spPr>
          <a:xfrm>
            <a:off x="5358540" y="2879396"/>
            <a:ext cx="1525654"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22 columns → 117 binary</a:t>
            </a:r>
            <a:endParaRPr lang="en-US" sz="1200" dirty="0"/>
          </a:p>
        </p:txBody>
      </p:sp>
      <p:pic>
        <p:nvPicPr>
          <p:cNvPr id="19" name="Image 6" descr="arrow-right">    </p:cNvPr>
          <p:cNvPicPr>
            <a:picLocks noChangeAspect="1"/>
          </p:cNvPicPr>
          <p:nvPr/>
        </p:nvPicPr>
        <p:blipFill>
          <a:blip r:embed="rId7"/>
          <a:srcRect l="0" r="0" t="0" b="0"/>
          <a:stretch/>
        </p:blipFill>
        <p:spPr>
          <a:xfrm>
            <a:off x="7066228" y="2556802"/>
            <a:ext cx="254000" cy="127000"/>
          </a:xfrm>
          <a:prstGeom prst="rect">
            <a:avLst/>
          </a:prstGeom>
        </p:spPr>
      </p:pic>
      <p:sp>
        <p:nvSpPr>
          <p:cNvPr id="20" name="Shape 11"/>
          <p:cNvSpPr/>
          <p:nvPr/>
        </p:nvSpPr>
        <p:spPr>
          <a:xfrm>
            <a:off x="7399603" y="1781110"/>
            <a:ext cx="1781837" cy="1678384"/>
          </a:xfrm>
          <a:prstGeom prst="roundRect">
            <a:avLst>
              <a:gd name="adj" fmla="val 7378"/>
            </a:avLst>
          </a:prstGeom>
          <a:solidFill>
            <a:srgbClr val="FBFCFF"/>
          </a:solidFill>
          <a:ln w="6350">
            <a:solidFill>
              <a:srgbClr val="D6E2F7"/>
            </a:solidFill>
            <a:prstDash val="solid"/>
          </a:ln>
        </p:spPr>
      </p:sp>
      <p:pic>
        <p:nvPicPr>
          <p:cNvPr id="21" name="Image 7" descr="Lightbulb">    </p:cNvPr>
          <p:cNvPicPr>
            <a:picLocks noChangeAspect="1"/>
          </p:cNvPicPr>
          <p:nvPr/>
        </p:nvPicPr>
        <p:blipFill>
          <a:blip r:embed="rId8"/>
          <a:srcRect l="0" r="0" t="0" b="0"/>
          <a:stretch/>
        </p:blipFill>
        <p:spPr>
          <a:xfrm>
            <a:off x="7553061" y="1934567"/>
            <a:ext cx="304800" cy="304800"/>
          </a:xfrm>
          <a:prstGeom prst="rect">
            <a:avLst/>
          </a:prstGeom>
        </p:spPr>
      </p:pic>
      <p:sp>
        <p:nvSpPr>
          <p:cNvPr id="22" name="Text 12"/>
          <p:cNvSpPr/>
          <p:nvPr/>
        </p:nvSpPr>
        <p:spPr>
          <a:xfrm>
            <a:off x="7553061" y="2315567"/>
            <a:ext cx="1525720" cy="51302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D"/>
                </a:solidFill>
                <a:latin typeface="Arial" pitchFamily="34" charset="0"/>
                <a:ea typeface="Arial" pitchFamily="34" charset="-122"/>
                <a:cs typeface="Arial" pitchFamily="34" charset="-120"/>
              </a:rPr>
              <a:t>Logistic regression</a:t>
            </a:r>
            <a:endParaRPr lang="en-US" sz="1600" dirty="0"/>
          </a:p>
        </p:txBody>
      </p:sp>
      <p:sp>
        <p:nvSpPr>
          <p:cNvPr id="23" name="Text 13"/>
          <p:cNvSpPr/>
          <p:nvPr/>
        </p:nvSpPr>
        <p:spPr>
          <a:xfrm>
            <a:off x="7553061" y="2879396"/>
            <a:ext cx="152572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max_iter=1000</a:t>
            </a:r>
            <a:endParaRPr lang="en-US" sz="1200" dirty="0"/>
          </a:p>
        </p:txBody>
      </p:sp>
      <p:pic>
        <p:nvPicPr>
          <p:cNvPr id="24" name="Image 8" descr="arrow-right">    </p:cNvPr>
          <p:cNvPicPr>
            <a:picLocks noChangeAspect="1"/>
          </p:cNvPicPr>
          <p:nvPr/>
        </p:nvPicPr>
        <p:blipFill>
          <a:blip r:embed="rId9"/>
          <a:srcRect l="0" r="0" t="0" b="0"/>
          <a:stretch/>
        </p:blipFill>
        <p:spPr>
          <a:xfrm>
            <a:off x="9260814" y="2556802"/>
            <a:ext cx="254000" cy="127000"/>
          </a:xfrm>
          <a:prstGeom prst="rect">
            <a:avLst/>
          </a:prstGeom>
        </p:spPr>
      </p:pic>
      <p:sp>
        <p:nvSpPr>
          <p:cNvPr id="25" name="Shape 14"/>
          <p:cNvSpPr/>
          <p:nvPr/>
        </p:nvSpPr>
        <p:spPr>
          <a:xfrm>
            <a:off x="9594189" y="1781110"/>
            <a:ext cx="1781837" cy="1678384"/>
          </a:xfrm>
          <a:prstGeom prst="roundRect">
            <a:avLst>
              <a:gd name="adj" fmla="val 7378"/>
            </a:avLst>
          </a:prstGeom>
          <a:solidFill>
            <a:srgbClr val="0A1A3F"/>
          </a:solidFill>
          <a:ln w="6350">
            <a:solidFill>
              <a:srgbClr val="0A1A3F"/>
            </a:solidFill>
            <a:prstDash val="solid"/>
          </a:ln>
        </p:spPr>
      </p:sp>
      <p:pic>
        <p:nvPicPr>
          <p:cNvPr id="26" name="Image 9" descr="Book">    </p:cNvPr>
          <p:cNvPicPr>
            <a:picLocks noChangeAspect="1"/>
          </p:cNvPicPr>
          <p:nvPr/>
        </p:nvPicPr>
        <p:blipFill>
          <a:blip r:embed="rId10"/>
          <a:srcRect l="0" r="0" t="0" b="0"/>
          <a:stretch/>
        </p:blipFill>
        <p:spPr>
          <a:xfrm>
            <a:off x="9747647" y="1934567"/>
            <a:ext cx="304800" cy="304800"/>
          </a:xfrm>
          <a:prstGeom prst="rect">
            <a:avLst/>
          </a:prstGeom>
        </p:spPr>
      </p:pic>
      <p:sp>
        <p:nvSpPr>
          <p:cNvPr id="27" name="Text 15"/>
          <p:cNvSpPr/>
          <p:nvPr/>
        </p:nvSpPr>
        <p:spPr>
          <a:xfrm>
            <a:off x="9747647" y="2315567"/>
            <a:ext cx="152572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7FE"/>
                </a:solidFill>
                <a:latin typeface="Arial" pitchFamily="34" charset="0"/>
                <a:ea typeface="Arial" pitchFamily="34" charset="-122"/>
                <a:cs typeface="Arial" pitchFamily="34" charset="-120"/>
              </a:rPr>
              <a:t>Score &amp; save</a:t>
            </a:r>
            <a:endParaRPr lang="en-US" sz="1600" dirty="0"/>
          </a:p>
        </p:txBody>
      </p:sp>
      <p:sp>
        <p:nvSpPr>
          <p:cNvPr id="28" name="Text 16"/>
          <p:cNvSpPr/>
          <p:nvPr/>
        </p:nvSpPr>
        <p:spPr>
          <a:xfrm>
            <a:off x="9747647" y="2635582"/>
            <a:ext cx="152572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3F2"/>
                </a:solidFill>
                <a:latin typeface="Arial" pitchFamily="34" charset="0"/>
                <a:ea typeface="Arial" pitchFamily="34" charset="-122"/>
                <a:cs typeface="Arial" pitchFamily="34" charset="-120"/>
              </a:rPr>
              <a:t>3 metrics → mushroom.joblib</a:t>
            </a:r>
            <a:endParaRPr lang="en-US" sz="1200" dirty="0"/>
          </a:p>
        </p:txBody>
      </p:sp>
      <p:sp>
        <p:nvSpPr>
          <p:cNvPr id="29" name="Shape 17"/>
          <p:cNvSpPr/>
          <p:nvPr/>
        </p:nvSpPr>
        <p:spPr>
          <a:xfrm>
            <a:off x="812800" y="3716669"/>
            <a:ext cx="10566400" cy="589227"/>
          </a:xfrm>
          <a:prstGeom prst="roundRect">
            <a:avLst>
              <a:gd name="adj" fmla="val 17243"/>
            </a:avLst>
          </a:prstGeom>
          <a:solidFill>
            <a:srgbClr val="E4ECFA"/>
          </a:solidFill>
          <a:ln/>
        </p:spPr>
      </p:sp>
      <p:pic>
        <p:nvPicPr>
          <p:cNvPr id="30" name="Image 10" descr="Code">    </p:cNvPr>
          <p:cNvPicPr>
            <a:picLocks noChangeAspect="1"/>
          </p:cNvPicPr>
          <p:nvPr/>
        </p:nvPicPr>
        <p:blipFill>
          <a:blip r:embed="rId11"/>
          <a:srcRect l="0" r="0" t="0" b="0"/>
          <a:stretch/>
        </p:blipFill>
        <p:spPr>
          <a:xfrm>
            <a:off x="1016000" y="3884284"/>
            <a:ext cx="254000" cy="254000"/>
          </a:xfrm>
          <a:prstGeom prst="rect">
            <a:avLst/>
          </a:prstGeom>
        </p:spPr>
      </p:pic>
      <p:sp>
        <p:nvSpPr>
          <p:cNvPr id="31" name="Text 18"/>
          <p:cNvSpPr/>
          <p:nvPr/>
        </p:nvSpPr>
        <p:spPr>
          <a:xfrm>
            <a:off x="1371600" y="3869069"/>
            <a:ext cx="4891326" cy="309827"/>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0B1B3D"/>
                </a:solidFill>
                <a:latin typeface="Arial" pitchFamily="34" charset="0"/>
                <a:ea typeface="Arial" pitchFamily="34" charset="-122"/>
                <a:cs typeface="Arial" pitchFamily="34" charset="-120"/>
              </a:rPr>
              <a:t>One command: </a:t>
            </a:r>
            <a:r>
              <a:rPr lang="en-US" sz="1600" b="1" dirty="0">
                <a:solidFill>
                  <a:srgbClr val="2563EB"/>
                </a:solidFill>
                <a:latin typeface="Arial" pitchFamily="34" charset="0"/>
                <a:ea typeface="Arial" pitchFamily="34" charset="-122"/>
                <a:cs typeface="Arial" pitchFamily="34" charset="-120"/>
              </a:rPr>
              <a:t>python train_mushroom.py</a:t>
            </a:r>
            <a:endParaRPr lang="en-US" sz="1600" dirty="0"/>
          </a:p>
        </p:txBody>
      </p:sp>
      <p:sp>
        <p:nvSpPr>
          <p:cNvPr id="32" name="Text 19"/>
          <p:cNvSpPr/>
          <p:nvPr/>
        </p:nvSpPr>
        <p:spPr>
          <a:xfrm>
            <a:off x="812800" y="6238280"/>
            <a:ext cx="469558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58C"/>
                </a:solidFill>
                <a:latin typeface="Arial" pitchFamily="34" charset="0"/>
                <a:ea typeface="Arial" pitchFamily="34" charset="-122"/>
                <a:cs typeface="Arial" pitchFamily="34" charset="-120"/>
              </a:rPr>
              <a:t>Mushroom Prediction · Train &amp; serve · train_mushroom.py</a:t>
            </a:r>
            <a:endParaRPr lang="en-US" sz="1200" dirty="0"/>
          </a:p>
        </p:txBody>
      </p:sp>
      <p:sp>
        <p:nvSpPr>
          <p:cNvPr id="33" name="Text 20"/>
          <p:cNvSpPr/>
          <p:nvPr/>
        </p:nvSpPr>
        <p:spPr>
          <a:xfrm>
            <a:off x="10830005" y="6238280"/>
            <a:ext cx="549196"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2658C"/>
                </a:solidFill>
                <a:latin typeface="Arial" pitchFamily="34" charset="0"/>
                <a:ea typeface="Arial" pitchFamily="34" charset="-122"/>
                <a:cs typeface="Arial" pitchFamily="34" charset="-120"/>
              </a:rPr>
              <a:t>05 / 11</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7FE"/>
        </a:solidFill>
      </p:bgPr>
    </p:bg>
    <p:spTree>
      <p:nvGrpSpPr>
        <p:cNvPr id="1" name=""/>
        <p:cNvGrpSpPr/>
        <p:nvPr/>
      </p:nvGrpSpPr>
      <p:grpSpPr>
        <a:xfrm>
          <a:off x="0" y="0"/>
          <a:ext cx="0" cy="0"/>
          <a:chOff x="0" y="0"/>
          <a:chExt cx="0" cy="0"/>
        </a:xfrm>
      </p:grpSpPr>
      <p:pic>
        <p:nvPicPr>
          <p:cNvPr id="2" name="Image 0" descr="Decorative shapes">    </p:cNvPr>
          <p:cNvPicPr>
            <a:picLocks noChangeAspect="1"/>
          </p:cNvPicPr>
          <p:nvPr/>
        </p:nvPicPr>
        <p:blipFill>
          <a:blip r:embed="rId1"/>
          <a:srcRect l="0" r="0" t="0" b="0"/>
          <a:stretch/>
        </p:blipFill>
        <p:spPr>
          <a:xfrm>
            <a:off x="10464800" y="152400"/>
            <a:ext cx="1524000" cy="533400"/>
          </a:xfrm>
          <a:prstGeom prst="rect">
            <a:avLst/>
          </a:prstGeom>
        </p:spPr>
      </p:pic>
      <p:pic>
        <p:nvPicPr>
          <p:cNvPr id="3" name="Image 1" descr="Decorative shapes">    </p:cNvPr>
          <p:cNvPicPr>
            <a:picLocks noChangeAspect="1"/>
          </p:cNvPicPr>
          <p:nvPr/>
        </p:nvPicPr>
        <p:blipFill>
          <a:blip r:embed="rId2"/>
          <a:srcRect l="0" r="0" t="0" b="0"/>
          <a:stretch/>
        </p:blipFill>
        <p:spPr>
          <a:xfrm>
            <a:off x="304800" y="3022600"/>
            <a:ext cx="177800" cy="8128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563EB"/>
                </a:solidFill>
                <a:latin typeface="Arial" pitchFamily="34" charset="0"/>
                <a:ea typeface="Arial" pitchFamily="34" charset="-122"/>
                <a:cs typeface="Arial" pitchFamily="34" charset="-120"/>
              </a:rPr>
              <a:t>02 · TRAINING</a:t>
            </a:r>
            <a:endParaRPr lang="en-US" sz="1200" dirty="0"/>
          </a:p>
        </p:txBody>
      </p:sp>
      <p:sp>
        <p:nvSpPr>
          <p:cNvPr id="5" name="Text 1"/>
          <p:cNvSpPr/>
          <p:nvPr>
            <p:ph type="title"/>
          </p:nvPr>
        </p:nvSpPr>
        <p:spPr>
          <a:xfrm>
            <a:off x="812800" y="10769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1B3D"/>
                </a:solidFill>
                <a:latin typeface="Arial" pitchFamily="34" charset="0"/>
                <a:ea typeface="Arial" pitchFamily="34" charset="-122"/>
                <a:cs typeface="Arial" pitchFamily="34" charset="-120"/>
              </a:rPr>
              <a:t>Near-perfect on 1,625 unseen mushrooms</a:t>
            </a:r>
            <a:endParaRPr lang="en-US" sz="3200" dirty="0"/>
          </a:p>
        </p:txBody>
      </p:sp>
      <p:sp>
        <p:nvSpPr>
          <p:cNvPr id="6" name="Shape 2"/>
          <p:cNvSpPr/>
          <p:nvPr/>
        </p:nvSpPr>
        <p:spPr>
          <a:xfrm>
            <a:off x="831850" y="1828735"/>
            <a:ext cx="0" cy="848320"/>
          </a:xfrm>
          <a:prstGeom prst="line">
            <a:avLst/>
          </a:prstGeom>
          <a:noFill/>
          <a:ln w="38100">
            <a:solidFill>
              <a:srgbClr val="2563EB"/>
            </a:solidFill>
            <a:prstDash val="solid"/>
          </a:ln>
        </p:spPr>
      </p:sp>
      <p:sp>
        <p:nvSpPr>
          <p:cNvPr id="7" name="Text 3"/>
          <p:cNvSpPr/>
          <p:nvPr/>
        </p:nvSpPr>
        <p:spPr>
          <a:xfrm>
            <a:off x="1028700" y="1828735"/>
            <a:ext cx="317868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2563EB"/>
                </a:solidFill>
                <a:latin typeface="Arial" pitchFamily="34" charset="0"/>
                <a:ea typeface="Arial" pitchFamily="34" charset="-122"/>
                <a:cs typeface="Arial" pitchFamily="34" charset="-120"/>
              </a:rPr>
              <a:t>99.94%</a:t>
            </a:r>
            <a:endParaRPr lang="en-US" sz="4800" dirty="0"/>
          </a:p>
        </p:txBody>
      </p:sp>
      <p:sp>
        <p:nvSpPr>
          <p:cNvPr id="8" name="Text 4"/>
          <p:cNvSpPr/>
          <p:nvPr/>
        </p:nvSpPr>
        <p:spPr>
          <a:xfrm>
            <a:off x="1028700" y="2463735"/>
            <a:ext cx="31786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Accuracy on the test set</a:t>
            </a:r>
            <a:endParaRPr lang="en-US" sz="1200" dirty="0"/>
          </a:p>
        </p:txBody>
      </p:sp>
      <p:sp>
        <p:nvSpPr>
          <p:cNvPr id="9" name="Shape 5"/>
          <p:cNvSpPr/>
          <p:nvPr/>
        </p:nvSpPr>
        <p:spPr>
          <a:xfrm>
            <a:off x="831850" y="2854855"/>
            <a:ext cx="0" cy="848320"/>
          </a:xfrm>
          <a:prstGeom prst="line">
            <a:avLst/>
          </a:prstGeom>
          <a:noFill/>
          <a:ln w="38100">
            <a:solidFill>
              <a:srgbClr val="60A5FA"/>
            </a:solidFill>
            <a:prstDash val="solid"/>
          </a:ln>
        </p:spPr>
      </p:sp>
      <p:sp>
        <p:nvSpPr>
          <p:cNvPr id="10" name="Text 6"/>
          <p:cNvSpPr/>
          <p:nvPr/>
        </p:nvSpPr>
        <p:spPr>
          <a:xfrm>
            <a:off x="1028700" y="2854855"/>
            <a:ext cx="317868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E3A8A"/>
                </a:solidFill>
                <a:latin typeface="Arial" pitchFamily="34" charset="0"/>
                <a:ea typeface="Arial" pitchFamily="34" charset="-122"/>
                <a:cs typeface="Arial" pitchFamily="34" charset="-120"/>
              </a:rPr>
              <a:t>0.9994</a:t>
            </a:r>
            <a:endParaRPr lang="en-US" sz="4800" dirty="0"/>
          </a:p>
        </p:txBody>
      </p:sp>
      <p:sp>
        <p:nvSpPr>
          <p:cNvPr id="11" name="Text 7"/>
          <p:cNvSpPr/>
          <p:nvPr/>
        </p:nvSpPr>
        <p:spPr>
          <a:xfrm>
            <a:off x="1028700" y="3489855"/>
            <a:ext cx="31786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Macro F1 (both classes equally weighted)</a:t>
            </a:r>
            <a:endParaRPr lang="en-US" sz="1200" dirty="0"/>
          </a:p>
        </p:txBody>
      </p:sp>
      <p:sp>
        <p:nvSpPr>
          <p:cNvPr id="12" name="Shape 8"/>
          <p:cNvSpPr/>
          <p:nvPr/>
        </p:nvSpPr>
        <p:spPr>
          <a:xfrm>
            <a:off x="831850" y="3880976"/>
            <a:ext cx="0" cy="848320"/>
          </a:xfrm>
          <a:prstGeom prst="line">
            <a:avLst/>
          </a:prstGeom>
          <a:noFill/>
          <a:ln w="38100">
            <a:solidFill>
              <a:srgbClr val="1E3A8A"/>
            </a:solidFill>
            <a:prstDash val="solid"/>
          </a:ln>
        </p:spPr>
      </p:sp>
      <p:sp>
        <p:nvSpPr>
          <p:cNvPr id="13" name="Text 9"/>
          <p:cNvSpPr/>
          <p:nvPr/>
        </p:nvSpPr>
        <p:spPr>
          <a:xfrm>
            <a:off x="1028700" y="3880976"/>
            <a:ext cx="3178683"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0B1B3D"/>
                </a:solidFill>
                <a:latin typeface="Arial" pitchFamily="34" charset="0"/>
                <a:ea typeface="Arial" pitchFamily="34" charset="-122"/>
                <a:cs typeface="Arial" pitchFamily="34" charset="-120"/>
              </a:rPr>
              <a:t>1.000</a:t>
            </a:r>
            <a:endParaRPr lang="en-US" sz="4800" dirty="0"/>
          </a:p>
        </p:txBody>
      </p:sp>
      <p:sp>
        <p:nvSpPr>
          <p:cNvPr id="14" name="Text 10"/>
          <p:cNvSpPr/>
          <p:nvPr/>
        </p:nvSpPr>
        <p:spPr>
          <a:xfrm>
            <a:off x="1028700" y="4515976"/>
            <a:ext cx="317868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ROC AUC, poisonous as the positive class</a:t>
            </a:r>
            <a:endParaRPr lang="en-US" sz="1200" dirty="0"/>
          </a:p>
        </p:txBody>
      </p:sp>
      <p:sp>
        <p:nvSpPr>
          <p:cNvPr id="15" name="Text 11"/>
          <p:cNvSpPr/>
          <p:nvPr/>
        </p:nvSpPr>
        <p:spPr>
          <a:xfrm>
            <a:off x="4622800" y="1828735"/>
            <a:ext cx="695909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B1B3D"/>
                </a:solidFill>
                <a:latin typeface="Arial" pitchFamily="34" charset="0"/>
                <a:ea typeface="Arial" pitchFamily="34" charset="-122"/>
                <a:cs typeface="Arial" pitchFamily="34" charset="-120"/>
              </a:rPr>
              <a:t>CONFUSION MATRIX · 1,625 TEST MUSHROOMS</a:t>
            </a:r>
            <a:endParaRPr lang="en-US" sz="1200" dirty="0"/>
          </a:p>
        </p:txBody>
      </p:sp>
      <p:sp>
        <p:nvSpPr>
          <p:cNvPr id="16" name="Text 12"/>
          <p:cNvSpPr/>
          <p:nvPr/>
        </p:nvSpPr>
        <p:spPr>
          <a:xfrm>
            <a:off x="4597400" y="2275681"/>
            <a:ext cx="1320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4557A"/>
                </a:solidFill>
                <a:latin typeface="Arial" pitchFamily="34" charset="0"/>
                <a:ea typeface="Arial" pitchFamily="34" charset="-122"/>
                <a:cs typeface="Arial" pitchFamily="34" charset="-120"/>
              </a:rPr>
              <a:t>Predicted edible</a:t>
            </a:r>
            <a:endParaRPr lang="en-US" sz="1200" dirty="0"/>
          </a:p>
        </p:txBody>
      </p:sp>
      <p:sp>
        <p:nvSpPr>
          <p:cNvPr id="17" name="Text 13"/>
          <p:cNvSpPr/>
          <p:nvPr/>
        </p:nvSpPr>
        <p:spPr>
          <a:xfrm>
            <a:off x="5928995" y="2275681"/>
            <a:ext cx="274701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44557A"/>
                </a:solidFill>
                <a:latin typeface="Arial" pitchFamily="34" charset="0"/>
                <a:ea typeface="Arial" pitchFamily="34" charset="-122"/>
                <a:cs typeface="Arial" pitchFamily="34" charset="-120"/>
              </a:rPr>
              <a:t>Predicted poisonous</a:t>
            </a:r>
            <a:endParaRPr lang="en-US" sz="1200" dirty="0"/>
          </a:p>
        </p:txBody>
      </p:sp>
      <p:sp>
        <p:nvSpPr>
          <p:cNvPr id="18" name="Text 14"/>
          <p:cNvSpPr/>
          <p:nvPr/>
        </p:nvSpPr>
        <p:spPr>
          <a:xfrm>
            <a:off x="8712200" y="2169055"/>
            <a:ext cx="274701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4557A"/>
                </a:solidFill>
                <a:latin typeface="Arial" pitchFamily="34" charset="0"/>
                <a:ea typeface="Arial" pitchFamily="34" charset="-122"/>
                <a:cs typeface="Arial" pitchFamily="34" charset="-120"/>
              </a:rPr>
              <a:t>Actual</a:t>
            </a:r>
            <a:endParaRPr lang="en-US" sz="1200" dirty="0"/>
          </a:p>
          <a:p>
            <a:pPr algn="l" indent="0" marL="0">
              <a:lnSpc>
                <a:spcPts val="1680"/>
              </a:lnSpc>
              <a:buNone/>
            </a:pPr>
            <a:r>
              <a:rPr lang="en-US" sz="1200" b="1" dirty="0">
                <a:solidFill>
                  <a:srgbClr val="44557A"/>
                </a:solidFill>
                <a:latin typeface="Arial" pitchFamily="34" charset="0"/>
                <a:ea typeface="Arial" pitchFamily="34" charset="-122"/>
                <a:cs typeface="Arial" pitchFamily="34" charset="-120"/>
              </a:rPr>
              <a:t>edible</a:t>
            </a:r>
            <a:endParaRPr lang="en-US" sz="1200" dirty="0"/>
          </a:p>
        </p:txBody>
      </p:sp>
      <p:sp>
        <p:nvSpPr>
          <p:cNvPr id="19" name="Text 15"/>
          <p:cNvSpPr/>
          <p:nvPr/>
        </p:nvSpPr>
        <p:spPr>
          <a:xfrm>
            <a:off x="4622800" y="2671896"/>
            <a:ext cx="1270000" cy="952500"/>
          </a:xfrm>
          <a:prstGeom prst="roundRect">
            <a:avLst>
              <a:gd name="adj" fmla="val 10667"/>
            </a:avLst>
          </a:prstGeom>
          <a:solidFill>
            <a:srgbClr val="60A5FA"/>
          </a:solidFill>
          <a:ln/>
        </p:spPr>
        <p:txBody>
          <a:bodyPr wrap="square" lIns="0" tIns="0" rIns="0" bIns="0" rtlCol="0" anchor="ctr">
            <a:normAutofit/>
          </a:bodyPr>
          <a:lstStyle/>
          <a:p>
            <a:pPr algn="ctr" indent="0" marL="0">
              <a:lnSpc>
                <a:spcPts val="4480"/>
              </a:lnSpc>
              <a:buNone/>
            </a:pPr>
            <a:r>
              <a:rPr lang="en-US" sz="3200" b="1" dirty="0">
                <a:solidFill>
                  <a:srgbClr val="0B1B3D"/>
                </a:solidFill>
                <a:latin typeface="Arial" pitchFamily="34" charset="0"/>
                <a:ea typeface="Arial" pitchFamily="34" charset="-122"/>
                <a:cs typeface="Arial" pitchFamily="34" charset="-120"/>
              </a:rPr>
              <a:t>842</a:t>
            </a:r>
            <a:endParaRPr lang="en-US" sz="3200" dirty="0"/>
          </a:p>
        </p:txBody>
      </p:sp>
      <p:sp>
        <p:nvSpPr>
          <p:cNvPr id="20" name="Text 16"/>
          <p:cNvSpPr/>
          <p:nvPr/>
        </p:nvSpPr>
        <p:spPr>
          <a:xfrm>
            <a:off x="5969000" y="2671896"/>
            <a:ext cx="2667000" cy="952500"/>
          </a:xfrm>
          <a:prstGeom prst="roundRect">
            <a:avLst>
              <a:gd name="adj" fmla="val 10667"/>
            </a:avLst>
          </a:prstGeom>
          <a:solidFill>
            <a:srgbClr val="E4ECFA"/>
          </a:solidFill>
          <a:ln/>
        </p:spPr>
        <p:txBody>
          <a:bodyPr wrap="square" lIns="0" tIns="0" rIns="0" bIns="0" rtlCol="0" anchor="ctr">
            <a:normAutofit/>
          </a:bodyPr>
          <a:lstStyle/>
          <a:p>
            <a:pPr algn="ctr" indent="0" marL="0">
              <a:lnSpc>
                <a:spcPts val="4480"/>
              </a:lnSpc>
              <a:buNone/>
            </a:pPr>
            <a:r>
              <a:rPr lang="en-US" sz="3200" b="1" dirty="0">
                <a:solidFill>
                  <a:srgbClr val="52658C"/>
                </a:solidFill>
                <a:latin typeface="Arial" pitchFamily="34" charset="0"/>
                <a:ea typeface="Arial" pitchFamily="34" charset="-122"/>
                <a:cs typeface="Arial" pitchFamily="34" charset="-120"/>
              </a:rPr>
              <a:t>0</a:t>
            </a:r>
            <a:endParaRPr lang="en-US" sz="3200" dirty="0"/>
          </a:p>
        </p:txBody>
      </p:sp>
      <p:sp>
        <p:nvSpPr>
          <p:cNvPr id="21" name="Text 17"/>
          <p:cNvSpPr/>
          <p:nvPr/>
        </p:nvSpPr>
        <p:spPr>
          <a:xfrm>
            <a:off x="8712200" y="2934826"/>
            <a:ext cx="2747010" cy="45204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44557A"/>
                </a:solidFill>
                <a:latin typeface="Arial" pitchFamily="34" charset="0"/>
                <a:ea typeface="Arial" pitchFamily="34" charset="-122"/>
                <a:cs typeface="Arial" pitchFamily="34" charset="-120"/>
              </a:rPr>
              <a:t>Actual</a:t>
            </a:r>
            <a:endParaRPr lang="en-US" sz="1200" dirty="0"/>
          </a:p>
          <a:p>
            <a:pPr algn="l" indent="0" marL="0">
              <a:lnSpc>
                <a:spcPts val="1680"/>
              </a:lnSpc>
              <a:buNone/>
            </a:pPr>
            <a:r>
              <a:rPr lang="en-US" sz="1200" b="1" dirty="0">
                <a:solidFill>
                  <a:srgbClr val="44557A"/>
                </a:solidFill>
                <a:latin typeface="Arial" pitchFamily="34" charset="0"/>
                <a:ea typeface="Arial" pitchFamily="34" charset="-122"/>
                <a:cs typeface="Arial" pitchFamily="34" charset="-120"/>
              </a:rPr>
              <a:t>poisonous</a:t>
            </a:r>
            <a:endParaRPr lang="en-US" sz="1200" dirty="0"/>
          </a:p>
        </p:txBody>
      </p:sp>
      <p:sp>
        <p:nvSpPr>
          <p:cNvPr id="22" name="Text 18"/>
          <p:cNvSpPr/>
          <p:nvPr/>
        </p:nvSpPr>
        <p:spPr>
          <a:xfrm>
            <a:off x="4632325" y="3710121"/>
            <a:ext cx="1250950" cy="933450"/>
          </a:xfrm>
          <a:prstGeom prst="roundRect">
            <a:avLst>
              <a:gd name="adj" fmla="val 9864"/>
            </a:avLst>
          </a:prstGeom>
          <a:solidFill>
            <a:srgbClr val="FBFCFF"/>
          </a:solidFill>
          <a:ln w="19050">
            <a:solidFill>
              <a:srgbClr val="2563EB"/>
            </a:solidFill>
            <a:prstDash val="dash"/>
          </a:ln>
        </p:spPr>
        <p:txBody>
          <a:bodyPr wrap="square" lIns="0" tIns="0" rIns="0" bIns="0" rtlCol="0" anchor="ctr">
            <a:normAutofit/>
          </a:bodyPr>
          <a:lstStyle/>
          <a:p>
            <a:pPr algn="ctr" indent="0" marL="0">
              <a:lnSpc>
                <a:spcPts val="4480"/>
              </a:lnSpc>
              <a:buNone/>
            </a:pPr>
            <a:r>
              <a:rPr lang="en-US" sz="3200" b="1" dirty="0">
                <a:solidFill>
                  <a:srgbClr val="2563EB"/>
                </a:solidFill>
                <a:latin typeface="Arial" pitchFamily="34" charset="0"/>
                <a:ea typeface="Arial" pitchFamily="34" charset="-122"/>
                <a:cs typeface="Arial" pitchFamily="34" charset="-120"/>
              </a:rPr>
              <a:t>1</a:t>
            </a:r>
            <a:endParaRPr lang="en-US" sz="3200" dirty="0"/>
          </a:p>
        </p:txBody>
      </p:sp>
      <p:sp>
        <p:nvSpPr>
          <p:cNvPr id="23" name="Text 19"/>
          <p:cNvSpPr/>
          <p:nvPr/>
        </p:nvSpPr>
        <p:spPr>
          <a:xfrm>
            <a:off x="5969000" y="3700596"/>
            <a:ext cx="2667000" cy="952500"/>
          </a:xfrm>
          <a:prstGeom prst="roundRect">
            <a:avLst>
              <a:gd name="adj" fmla="val 10667"/>
            </a:avLst>
          </a:prstGeom>
          <a:solidFill>
            <a:srgbClr val="1E3A8A"/>
          </a:solidFill>
          <a:ln/>
        </p:spPr>
        <p:txBody>
          <a:bodyPr wrap="square" lIns="0" tIns="0" rIns="0" bIns="0" rtlCol="0" anchor="ctr">
            <a:normAutofit/>
          </a:bodyPr>
          <a:lstStyle/>
          <a:p>
            <a:pPr algn="ctr" indent="0" marL="0">
              <a:lnSpc>
                <a:spcPts val="4480"/>
              </a:lnSpc>
              <a:buNone/>
            </a:pPr>
            <a:r>
              <a:rPr lang="en-US" sz="3200" b="1" dirty="0">
                <a:solidFill>
                  <a:srgbClr val="F3F7FE"/>
                </a:solidFill>
                <a:latin typeface="Arial" pitchFamily="34" charset="0"/>
                <a:ea typeface="Arial" pitchFamily="34" charset="-122"/>
                <a:cs typeface="Arial" pitchFamily="34" charset="-120"/>
              </a:rPr>
              <a:t>782</a:t>
            </a:r>
            <a:endParaRPr lang="en-US" sz="3200" dirty="0"/>
          </a:p>
        </p:txBody>
      </p:sp>
      <p:sp>
        <p:nvSpPr>
          <p:cNvPr id="24" name="Text 20"/>
          <p:cNvSpPr/>
          <p:nvPr/>
        </p:nvSpPr>
        <p:spPr>
          <a:xfrm>
            <a:off x="4622800" y="4780096"/>
            <a:ext cx="69590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Only 1 of 1,625 test mushrooms is wrong (dashed).</a:t>
            </a:r>
            <a:endParaRPr lang="en-US" sz="1200" dirty="0"/>
          </a:p>
        </p:txBody>
      </p:sp>
      <p:sp>
        <p:nvSpPr>
          <p:cNvPr id="25" name="Text 21"/>
          <p:cNvSpPr/>
          <p:nvPr/>
        </p:nvSpPr>
        <p:spPr>
          <a:xfrm>
            <a:off x="812800" y="6238280"/>
            <a:ext cx="529550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58C"/>
                </a:solidFill>
                <a:latin typeface="Arial" pitchFamily="34" charset="0"/>
                <a:ea typeface="Arial" pitchFamily="34" charset="-122"/>
                <a:cs typeface="Arial" pitchFamily="34" charset="-120"/>
              </a:rPr>
              <a:t>Mushroom Prediction · Train &amp; serve · python train_mushroom.py</a:t>
            </a:r>
            <a:endParaRPr lang="en-US" sz="1200" dirty="0"/>
          </a:p>
        </p:txBody>
      </p:sp>
      <p:sp>
        <p:nvSpPr>
          <p:cNvPr id="26" name="Text 22"/>
          <p:cNvSpPr/>
          <p:nvPr/>
        </p:nvSpPr>
        <p:spPr>
          <a:xfrm>
            <a:off x="10830005" y="6238280"/>
            <a:ext cx="549196"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2658C"/>
                </a:solidFill>
                <a:latin typeface="Arial" pitchFamily="34" charset="0"/>
                <a:ea typeface="Arial" pitchFamily="34" charset="-122"/>
                <a:cs typeface="Arial" pitchFamily="34" charset="-120"/>
              </a:rPr>
              <a:t>06 / 11</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7FE"/>
        </a:solidFill>
      </p:bgPr>
    </p:bg>
    <p:spTree>
      <p:nvGrpSpPr>
        <p:cNvPr id="1" name=""/>
        <p:cNvGrpSpPr/>
        <p:nvPr/>
      </p:nvGrpSpPr>
      <p:grpSpPr>
        <a:xfrm>
          <a:off x="0" y="0"/>
          <a:ext cx="0" cy="0"/>
          <a:chOff x="0" y="0"/>
          <a:chExt cx="0" cy="0"/>
        </a:xfrm>
      </p:grpSpPr>
      <p:pic>
        <p:nvPicPr>
          <p:cNvPr id="2" name="Image 0" descr="Decorative shapes">    </p:cNvPr>
          <p:cNvPicPr>
            <a:picLocks noChangeAspect="1"/>
          </p:cNvPicPr>
          <p:nvPr/>
        </p:nvPicPr>
        <p:blipFill>
          <a:blip r:embed="rId1"/>
          <a:srcRect l="0" r="0" t="0" b="0"/>
          <a:stretch/>
        </p:blipFill>
        <p:spPr>
          <a:xfrm>
            <a:off x="10464800" y="152400"/>
            <a:ext cx="1524000" cy="5334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563EB"/>
                </a:solidFill>
                <a:latin typeface="Arial" pitchFamily="34" charset="0"/>
                <a:ea typeface="Arial" pitchFamily="34" charset="-122"/>
                <a:cs typeface="Arial" pitchFamily="34" charset="-120"/>
              </a:rPr>
              <a:t>03 · API</a:t>
            </a:r>
            <a:endParaRPr lang="en-US" sz="1200" dirty="0"/>
          </a:p>
        </p:txBody>
      </p:sp>
      <p:sp>
        <p:nvSpPr>
          <p:cNvPr id="4" name="Text 1"/>
          <p:cNvSpPr/>
          <p:nvPr>
            <p:ph type="title"/>
          </p:nvPr>
        </p:nvSpPr>
        <p:spPr>
          <a:xfrm>
            <a:off x="812800" y="10769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1B3D"/>
                </a:solidFill>
                <a:latin typeface="Arial" pitchFamily="34" charset="0"/>
                <a:ea typeface="Arial" pitchFamily="34" charset="-122"/>
                <a:cs typeface="Arial" pitchFamily="34" charset="-120"/>
              </a:rPr>
              <a:t>The request path, end to end</a:t>
            </a:r>
            <a:endParaRPr lang="en-US" sz="3200" dirty="0"/>
          </a:p>
        </p:txBody>
      </p:sp>
      <p:pic>
        <p:nvPicPr>
          <p:cNvPr id="5" name="Image 1" descr="connector">    </p:cNvPr>
          <p:cNvPicPr>
            <a:picLocks noChangeAspect="1"/>
          </p:cNvPicPr>
          <p:nvPr/>
        </p:nvPicPr>
        <p:blipFill>
          <a:blip r:embed="rId2"/>
          <a:srcRect l="0" r="0" t="0" b="0"/>
          <a:stretch/>
        </p:blipFill>
        <p:spPr>
          <a:xfrm>
            <a:off x="2794000" y="2425700"/>
            <a:ext cx="863600" cy="101600"/>
          </a:xfrm>
          <a:prstGeom prst="rect">
            <a:avLst/>
          </a:prstGeom>
        </p:spPr>
      </p:pic>
      <p:pic>
        <p:nvPicPr>
          <p:cNvPr id="6" name="Image 2" descr="connector">    </p:cNvPr>
          <p:cNvPicPr>
            <a:picLocks noChangeAspect="1"/>
          </p:cNvPicPr>
          <p:nvPr/>
        </p:nvPicPr>
        <p:blipFill>
          <a:blip r:embed="rId3"/>
          <a:srcRect l="0" r="0" t="0" b="0"/>
          <a:stretch/>
        </p:blipFill>
        <p:spPr>
          <a:xfrm>
            <a:off x="5588000" y="2425700"/>
            <a:ext cx="863600" cy="101600"/>
          </a:xfrm>
          <a:prstGeom prst="rect">
            <a:avLst/>
          </a:prstGeom>
        </p:spPr>
      </p:pic>
      <p:pic>
        <p:nvPicPr>
          <p:cNvPr id="7" name="Image 3" descr="connector">    </p:cNvPr>
          <p:cNvPicPr>
            <a:picLocks noChangeAspect="1"/>
          </p:cNvPicPr>
          <p:nvPr/>
        </p:nvPicPr>
        <p:blipFill>
          <a:blip r:embed="rId4"/>
          <a:srcRect l="0" r="0" t="0" b="0"/>
          <a:stretch/>
        </p:blipFill>
        <p:spPr>
          <a:xfrm>
            <a:off x="7531100" y="2997200"/>
            <a:ext cx="101600" cy="863600"/>
          </a:xfrm>
          <a:prstGeom prst="rect">
            <a:avLst/>
          </a:prstGeom>
        </p:spPr>
      </p:pic>
      <p:pic>
        <p:nvPicPr>
          <p:cNvPr id="8" name="Image 4" descr="connector">    </p:cNvPr>
          <p:cNvPicPr>
            <a:picLocks noChangeAspect="1"/>
          </p:cNvPicPr>
          <p:nvPr/>
        </p:nvPicPr>
        <p:blipFill>
          <a:blip r:embed="rId5"/>
          <a:srcRect l="0" r="0" t="0" b="0"/>
          <a:stretch/>
        </p:blipFill>
        <p:spPr>
          <a:xfrm>
            <a:off x="10147300" y="2997200"/>
            <a:ext cx="101600" cy="863600"/>
          </a:xfrm>
          <a:prstGeom prst="rect">
            <a:avLst/>
          </a:prstGeom>
        </p:spPr>
      </p:pic>
      <p:pic>
        <p:nvPicPr>
          <p:cNvPr id="9" name="Image 5" descr="connector">    </p:cNvPr>
          <p:cNvPicPr>
            <a:picLocks noChangeAspect="1"/>
          </p:cNvPicPr>
          <p:nvPr/>
        </p:nvPicPr>
        <p:blipFill>
          <a:blip r:embed="rId6"/>
          <a:srcRect l="0" r="0" t="0" b="0"/>
          <a:stretch/>
        </p:blipFill>
        <p:spPr>
          <a:xfrm>
            <a:off x="5588000" y="4330700"/>
            <a:ext cx="863600" cy="101600"/>
          </a:xfrm>
          <a:prstGeom prst="rect">
            <a:avLst/>
          </a:prstGeom>
        </p:spPr>
      </p:pic>
      <p:sp>
        <p:nvSpPr>
          <p:cNvPr id="10" name="Text 2"/>
          <p:cNvSpPr/>
          <p:nvPr/>
        </p:nvSpPr>
        <p:spPr>
          <a:xfrm>
            <a:off x="2819400" y="2159000"/>
            <a:ext cx="812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563EB"/>
                </a:solidFill>
                <a:latin typeface="Arial" pitchFamily="34" charset="0"/>
                <a:ea typeface="Arial" pitchFamily="34" charset="-122"/>
                <a:cs typeface="Arial" pitchFamily="34" charset="-120"/>
              </a:rPr>
              <a:t>HTTP</a:t>
            </a:r>
            <a:endParaRPr lang="en-US" sz="1200" dirty="0"/>
          </a:p>
        </p:txBody>
      </p:sp>
      <p:sp>
        <p:nvSpPr>
          <p:cNvPr id="11" name="Text 3"/>
          <p:cNvSpPr/>
          <p:nvPr/>
        </p:nvSpPr>
        <p:spPr>
          <a:xfrm>
            <a:off x="5613400" y="2159000"/>
            <a:ext cx="812800"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563EB"/>
                </a:solidFill>
                <a:latin typeface="Arial" pitchFamily="34" charset="0"/>
                <a:ea typeface="Arial" pitchFamily="34" charset="-122"/>
                <a:cs typeface="Arial" pitchFamily="34" charset="-120"/>
              </a:rPr>
              <a:t>ASGI</a:t>
            </a:r>
            <a:endParaRPr lang="en-US" sz="1200" dirty="0"/>
          </a:p>
        </p:txBody>
      </p:sp>
      <p:sp>
        <p:nvSpPr>
          <p:cNvPr id="12" name="Text 4"/>
          <p:cNvSpPr/>
          <p:nvPr/>
        </p:nvSpPr>
        <p:spPr>
          <a:xfrm>
            <a:off x="7683500" y="3314700"/>
            <a:ext cx="11938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EB"/>
                </a:solidFill>
                <a:latin typeface="Arial" pitchFamily="34" charset="0"/>
                <a:ea typeface="Arial" pitchFamily="34" charset="-122"/>
                <a:cs typeface="Arial" pitchFamily="34" charset="-120"/>
              </a:rPr>
              <a:t>predict</a:t>
            </a:r>
            <a:endParaRPr lang="en-US" sz="1200" dirty="0"/>
          </a:p>
        </p:txBody>
      </p:sp>
      <p:sp>
        <p:nvSpPr>
          <p:cNvPr id="13" name="Text 5"/>
          <p:cNvSpPr/>
          <p:nvPr/>
        </p:nvSpPr>
        <p:spPr>
          <a:xfrm>
            <a:off x="10299700" y="3314700"/>
            <a:ext cx="11303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2563EB"/>
                </a:solidFill>
                <a:latin typeface="Arial" pitchFamily="34" charset="0"/>
                <a:ea typeface="Arial" pitchFamily="34" charset="-122"/>
                <a:cs typeface="Arial" pitchFamily="34" charset="-120"/>
              </a:rPr>
              <a:t>validate</a:t>
            </a:r>
            <a:endParaRPr lang="en-US" sz="1200" dirty="0"/>
          </a:p>
        </p:txBody>
      </p:sp>
      <p:sp>
        <p:nvSpPr>
          <p:cNvPr id="14" name="Shape 6"/>
          <p:cNvSpPr/>
          <p:nvPr/>
        </p:nvSpPr>
        <p:spPr>
          <a:xfrm>
            <a:off x="815975" y="1908175"/>
            <a:ext cx="2025650" cy="1136650"/>
          </a:xfrm>
          <a:prstGeom prst="roundRect">
            <a:avLst>
              <a:gd name="adj" fmla="val 10894"/>
            </a:avLst>
          </a:prstGeom>
          <a:solidFill>
            <a:srgbClr val="FBFCFF"/>
          </a:solidFill>
          <a:ln w="6350">
            <a:solidFill>
              <a:srgbClr val="D6E2F7"/>
            </a:solidFill>
            <a:prstDash val="solid"/>
          </a:ln>
        </p:spPr>
      </p:sp>
      <p:sp>
        <p:nvSpPr>
          <p:cNvPr id="15" name="Text 7"/>
          <p:cNvSpPr/>
          <p:nvPr/>
        </p:nvSpPr>
        <p:spPr>
          <a:xfrm>
            <a:off x="969433" y="2222500"/>
            <a:ext cx="177029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D"/>
                </a:solidFill>
                <a:latin typeface="Arial" pitchFamily="34" charset="0"/>
                <a:ea typeface="Arial" pitchFamily="34" charset="-122"/>
                <a:cs typeface="Arial" pitchFamily="34" charset="-120"/>
              </a:rPr>
              <a:t>Client</a:t>
            </a:r>
            <a:endParaRPr lang="en-US" sz="1600" dirty="0"/>
          </a:p>
        </p:txBody>
      </p:sp>
      <p:sp>
        <p:nvSpPr>
          <p:cNvPr id="16" name="Text 8"/>
          <p:cNvSpPr/>
          <p:nvPr/>
        </p:nvSpPr>
        <p:spPr>
          <a:xfrm>
            <a:off x="969433" y="2517115"/>
            <a:ext cx="177029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curl or Swagger /docs</a:t>
            </a:r>
            <a:endParaRPr lang="en-US" sz="1200" dirty="0"/>
          </a:p>
        </p:txBody>
      </p:sp>
      <p:sp>
        <p:nvSpPr>
          <p:cNvPr id="17" name="Shape 9"/>
          <p:cNvSpPr/>
          <p:nvPr/>
        </p:nvSpPr>
        <p:spPr>
          <a:xfrm>
            <a:off x="3609975" y="1908175"/>
            <a:ext cx="2025650" cy="1136650"/>
          </a:xfrm>
          <a:prstGeom prst="roundRect">
            <a:avLst>
              <a:gd name="adj" fmla="val 10894"/>
            </a:avLst>
          </a:prstGeom>
          <a:solidFill>
            <a:srgbClr val="FBFCFF"/>
          </a:solidFill>
          <a:ln w="6350">
            <a:solidFill>
              <a:srgbClr val="D6E2F7"/>
            </a:solidFill>
            <a:prstDash val="solid"/>
          </a:ln>
        </p:spPr>
      </p:sp>
      <p:sp>
        <p:nvSpPr>
          <p:cNvPr id="18" name="Text 10"/>
          <p:cNvSpPr/>
          <p:nvPr/>
        </p:nvSpPr>
        <p:spPr>
          <a:xfrm>
            <a:off x="3763433" y="2115874"/>
            <a:ext cx="177029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D"/>
                </a:solidFill>
                <a:latin typeface="Arial" pitchFamily="34" charset="0"/>
                <a:ea typeface="Arial" pitchFamily="34" charset="-122"/>
                <a:cs typeface="Arial" pitchFamily="34" charset="-120"/>
              </a:rPr>
              <a:t>uvicorn</a:t>
            </a:r>
            <a:endParaRPr lang="en-US" sz="1600" dirty="0"/>
          </a:p>
        </p:txBody>
      </p:sp>
      <p:sp>
        <p:nvSpPr>
          <p:cNvPr id="19" name="Text 11"/>
          <p:cNvSpPr/>
          <p:nvPr/>
        </p:nvSpPr>
        <p:spPr>
          <a:xfrm>
            <a:off x="3763433" y="2410489"/>
            <a:ext cx="17702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ASGI server running app.main:app</a:t>
            </a:r>
            <a:endParaRPr lang="en-US" sz="1200" dirty="0"/>
          </a:p>
        </p:txBody>
      </p:sp>
      <p:sp>
        <p:nvSpPr>
          <p:cNvPr id="20" name="Shape 12"/>
          <p:cNvSpPr/>
          <p:nvPr/>
        </p:nvSpPr>
        <p:spPr>
          <a:xfrm>
            <a:off x="6400800" y="1905000"/>
            <a:ext cx="4978400" cy="1143000"/>
          </a:xfrm>
          <a:prstGeom prst="roundRect">
            <a:avLst>
              <a:gd name="adj" fmla="val 11111"/>
            </a:avLst>
          </a:prstGeom>
          <a:solidFill>
            <a:srgbClr val="0A1A3F"/>
          </a:solidFill>
          <a:ln/>
          <a:effectLst>
            <a:outerShdw sx="100000" sy="100000" kx="0" ky="0" algn="bl" rotWithShape="0" blurRad="254000" dist="101600" dir="5400000">
              <a:srgbClr val="2563EB">
                <a:alpha val="20000"/>
              </a:srgbClr>
            </a:outerShdw>
          </a:effectLst>
        </p:spPr>
      </p:sp>
      <p:sp>
        <p:nvSpPr>
          <p:cNvPr id="21" name="Text 13"/>
          <p:cNvSpPr/>
          <p:nvPr/>
        </p:nvSpPr>
        <p:spPr>
          <a:xfrm>
            <a:off x="6604000" y="2115874"/>
            <a:ext cx="470916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7FE"/>
                </a:solidFill>
                <a:latin typeface="Arial" pitchFamily="34" charset="0"/>
                <a:ea typeface="Arial" pitchFamily="34" charset="-122"/>
                <a:cs typeface="Arial" pitchFamily="34" charset="-120"/>
              </a:rPr>
              <a:t>app/main.py · FastAPI</a:t>
            </a:r>
            <a:endParaRPr lang="en-US" sz="1600" dirty="0"/>
          </a:p>
        </p:txBody>
      </p:sp>
      <p:sp>
        <p:nvSpPr>
          <p:cNvPr id="22" name="Text 14"/>
          <p:cNvSpPr/>
          <p:nvPr/>
        </p:nvSpPr>
        <p:spPr>
          <a:xfrm>
            <a:off x="6604000" y="2410489"/>
            <a:ext cx="470916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3F2"/>
                </a:solidFill>
                <a:latin typeface="Arial" pitchFamily="34" charset="0"/>
                <a:ea typeface="Arial" pitchFamily="34" charset="-122"/>
                <a:cs typeface="Arial" pitchFamily="34" charset="-120"/>
              </a:rPr>
              <a:t>lifespan() loads every model into MODELS at start-up, then 4 routes answer requests</a:t>
            </a:r>
            <a:endParaRPr lang="en-US" sz="1200" dirty="0"/>
          </a:p>
        </p:txBody>
      </p:sp>
      <p:sp>
        <p:nvSpPr>
          <p:cNvPr id="23" name="Shape 15"/>
          <p:cNvSpPr/>
          <p:nvPr/>
        </p:nvSpPr>
        <p:spPr>
          <a:xfrm>
            <a:off x="3609975" y="3813175"/>
            <a:ext cx="2025650" cy="1136650"/>
          </a:xfrm>
          <a:prstGeom prst="roundRect">
            <a:avLst>
              <a:gd name="adj" fmla="val 10894"/>
            </a:avLst>
          </a:prstGeom>
          <a:solidFill>
            <a:srgbClr val="FBFCFF"/>
          </a:solidFill>
          <a:ln w="6350">
            <a:solidFill>
              <a:srgbClr val="D6E2F7"/>
            </a:solidFill>
            <a:prstDash val="solid"/>
          </a:ln>
        </p:spPr>
      </p:sp>
      <p:sp>
        <p:nvSpPr>
          <p:cNvPr id="24" name="Text 16"/>
          <p:cNvSpPr/>
          <p:nvPr/>
        </p:nvSpPr>
        <p:spPr>
          <a:xfrm>
            <a:off x="3763433" y="4020874"/>
            <a:ext cx="1770295"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D"/>
                </a:solidFill>
                <a:latin typeface="Arial" pitchFamily="34" charset="0"/>
                <a:ea typeface="Arial" pitchFamily="34" charset="-122"/>
                <a:cs typeface="Arial" pitchFamily="34" charset="-120"/>
              </a:rPr>
              <a:t>models/</a:t>
            </a:r>
            <a:endParaRPr lang="en-US" sz="1600" dirty="0"/>
          </a:p>
        </p:txBody>
      </p:sp>
      <p:sp>
        <p:nvSpPr>
          <p:cNvPr id="25" name="Text 17"/>
          <p:cNvSpPr/>
          <p:nvPr/>
        </p:nvSpPr>
        <p:spPr>
          <a:xfrm>
            <a:off x="3763433" y="4315489"/>
            <a:ext cx="1770295"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mushroom.joblib — the trained bundle</a:t>
            </a:r>
            <a:endParaRPr lang="en-US" sz="1200" dirty="0"/>
          </a:p>
        </p:txBody>
      </p:sp>
      <p:sp>
        <p:nvSpPr>
          <p:cNvPr id="26" name="Shape 18"/>
          <p:cNvSpPr/>
          <p:nvPr/>
        </p:nvSpPr>
        <p:spPr>
          <a:xfrm>
            <a:off x="6403975" y="3813175"/>
            <a:ext cx="2355850" cy="1136650"/>
          </a:xfrm>
          <a:prstGeom prst="roundRect">
            <a:avLst>
              <a:gd name="adj" fmla="val 10894"/>
            </a:avLst>
          </a:prstGeom>
          <a:solidFill>
            <a:srgbClr val="FBFCFF"/>
          </a:solidFill>
          <a:ln w="6350">
            <a:solidFill>
              <a:srgbClr val="D6E2F7"/>
            </a:solidFill>
            <a:prstDash val="solid"/>
          </a:ln>
        </p:spPr>
      </p:sp>
      <p:sp>
        <p:nvSpPr>
          <p:cNvPr id="27" name="Text 19"/>
          <p:cNvSpPr/>
          <p:nvPr/>
        </p:nvSpPr>
        <p:spPr>
          <a:xfrm>
            <a:off x="6557434" y="4020874"/>
            <a:ext cx="211040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D"/>
                </a:solidFill>
                <a:latin typeface="Arial" pitchFamily="34" charset="0"/>
                <a:ea typeface="Arial" pitchFamily="34" charset="-122"/>
                <a:cs typeface="Arial" pitchFamily="34" charset="-120"/>
              </a:rPr>
              <a:t>app/ml.py</a:t>
            </a:r>
            <a:endParaRPr lang="en-US" sz="1600" dirty="0"/>
          </a:p>
        </p:txBody>
      </p:sp>
      <p:sp>
        <p:nvSpPr>
          <p:cNvPr id="28" name="Text 20"/>
          <p:cNvSpPr/>
          <p:nvPr/>
        </p:nvSpPr>
        <p:spPr>
          <a:xfrm>
            <a:off x="6557434" y="4315489"/>
            <a:ext cx="211040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load() + predict_mushroom() → probabilities</a:t>
            </a:r>
            <a:endParaRPr lang="en-US" sz="1200" dirty="0"/>
          </a:p>
        </p:txBody>
      </p:sp>
      <p:sp>
        <p:nvSpPr>
          <p:cNvPr id="29" name="Shape 21"/>
          <p:cNvSpPr/>
          <p:nvPr/>
        </p:nvSpPr>
        <p:spPr>
          <a:xfrm>
            <a:off x="9020175" y="3813175"/>
            <a:ext cx="2355850" cy="1136650"/>
          </a:xfrm>
          <a:prstGeom prst="roundRect">
            <a:avLst>
              <a:gd name="adj" fmla="val 10894"/>
            </a:avLst>
          </a:prstGeom>
          <a:solidFill>
            <a:srgbClr val="FBFCFF"/>
          </a:solidFill>
          <a:ln w="6350">
            <a:solidFill>
              <a:srgbClr val="D6E2F7"/>
            </a:solidFill>
            <a:prstDash val="solid"/>
          </a:ln>
        </p:spPr>
      </p:sp>
      <p:sp>
        <p:nvSpPr>
          <p:cNvPr id="30" name="Text 22"/>
          <p:cNvSpPr/>
          <p:nvPr/>
        </p:nvSpPr>
        <p:spPr>
          <a:xfrm>
            <a:off x="9173634" y="4020874"/>
            <a:ext cx="2110401"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D"/>
                </a:solidFill>
                <a:latin typeface="Arial" pitchFamily="34" charset="0"/>
                <a:ea typeface="Arial" pitchFamily="34" charset="-122"/>
                <a:cs typeface="Arial" pitchFamily="34" charset="-120"/>
              </a:rPr>
              <a:t>app/schemas.py</a:t>
            </a:r>
            <a:endParaRPr lang="en-US" sz="1600" dirty="0"/>
          </a:p>
        </p:txBody>
      </p:sp>
      <p:sp>
        <p:nvSpPr>
          <p:cNvPr id="31" name="Text 23"/>
          <p:cNvSpPr/>
          <p:nvPr/>
        </p:nvSpPr>
        <p:spPr>
          <a:xfrm>
            <a:off x="9173634" y="4315489"/>
            <a:ext cx="2110401"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Pydantic request and response models</a:t>
            </a:r>
            <a:endParaRPr lang="en-US" sz="1200" dirty="0"/>
          </a:p>
        </p:txBody>
      </p:sp>
      <p:sp>
        <p:nvSpPr>
          <p:cNvPr id="32" name="Text 24"/>
          <p:cNvSpPr/>
          <p:nvPr/>
        </p:nvSpPr>
        <p:spPr>
          <a:xfrm>
            <a:off x="812800" y="52705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Start it with </a:t>
            </a:r>
            <a:r>
              <a:rPr lang="en-US" sz="1200" b="1" dirty="0">
                <a:solidFill>
                  <a:srgbClr val="1E3A8A"/>
                </a:solidFill>
                <a:latin typeface="Arial" pitchFamily="34" charset="0"/>
                <a:ea typeface="Arial" pitchFamily="34" charset="-122"/>
                <a:cs typeface="Arial" pitchFamily="34" charset="-120"/>
              </a:rPr>
              <a:t>uvicorn app.main:app --reload</a:t>
            </a:r>
            <a:r>
              <a:rPr lang="en-US" sz="1200" dirty="0">
                <a:solidFill>
                  <a:srgbClr val="44557A"/>
                </a:solidFill>
                <a:latin typeface="Arial" pitchFamily="34" charset="0"/>
                <a:ea typeface="Arial" pitchFamily="34" charset="-122"/>
                <a:cs typeface="Arial" pitchFamily="34" charset="-120"/>
              </a:rPr>
              <a:t> (or </a:t>
            </a:r>
            <a:r>
              <a:rPr lang="en-US" sz="1200" b="1" dirty="0">
                <a:solidFill>
                  <a:srgbClr val="44557A"/>
                </a:solidFill>
                <a:latin typeface="Arial" pitchFamily="34" charset="0"/>
                <a:ea typeface="Arial" pitchFamily="34" charset="-122"/>
                <a:cs typeface="Arial" pitchFamily="34" charset="-120"/>
              </a:rPr>
              <a:t>fastapi dev app/main.py</a:t>
            </a:r>
            <a:r>
              <a:rPr lang="en-US" sz="1200" dirty="0">
                <a:solidFill>
                  <a:srgbClr val="44557A"/>
                </a:solidFill>
                <a:latin typeface="Arial" pitchFamily="34" charset="0"/>
                <a:ea typeface="Arial" pitchFamily="34" charset="-122"/>
                <a:cs typeface="Arial" pitchFamily="34" charset="-120"/>
              </a:rPr>
              <a:t>, which runs uvicorn for you), then open http://127.0.0.1:8000/docs</a:t>
            </a:r>
            <a:endParaRPr lang="en-US" sz="1200" dirty="0"/>
          </a:p>
        </p:txBody>
      </p:sp>
      <p:sp>
        <p:nvSpPr>
          <p:cNvPr id="33" name="Text 25"/>
          <p:cNvSpPr/>
          <p:nvPr/>
        </p:nvSpPr>
        <p:spPr>
          <a:xfrm>
            <a:off x="812800" y="6238280"/>
            <a:ext cx="29678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58C"/>
                </a:solidFill>
                <a:latin typeface="Arial" pitchFamily="34" charset="0"/>
                <a:ea typeface="Arial" pitchFamily="34" charset="-122"/>
                <a:cs typeface="Arial" pitchFamily="34" charset="-120"/>
              </a:rPr>
              <a:t>Mushroom Prediction · Train &amp; serve</a:t>
            </a:r>
            <a:endParaRPr lang="en-US" sz="1200" dirty="0"/>
          </a:p>
        </p:txBody>
      </p:sp>
      <p:sp>
        <p:nvSpPr>
          <p:cNvPr id="34" name="Text 26"/>
          <p:cNvSpPr/>
          <p:nvPr/>
        </p:nvSpPr>
        <p:spPr>
          <a:xfrm>
            <a:off x="10830005" y="6238280"/>
            <a:ext cx="549196"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2658C"/>
                </a:solidFill>
                <a:latin typeface="Arial" pitchFamily="34" charset="0"/>
                <a:ea typeface="Arial" pitchFamily="34" charset="-122"/>
                <a:cs typeface="Arial" pitchFamily="34" charset="-120"/>
              </a:rPr>
              <a:t>07 / 11</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7FE"/>
        </a:solidFill>
      </p:bgPr>
    </p:bg>
    <p:spTree>
      <p:nvGrpSpPr>
        <p:cNvPr id="1" name=""/>
        <p:cNvGrpSpPr/>
        <p:nvPr/>
      </p:nvGrpSpPr>
      <p:grpSpPr>
        <a:xfrm>
          <a:off x="0" y="0"/>
          <a:ext cx="0" cy="0"/>
          <a:chOff x="0" y="0"/>
          <a:chExt cx="0" cy="0"/>
        </a:xfrm>
      </p:grpSpPr>
      <p:pic>
        <p:nvPicPr>
          <p:cNvPr id="2" name="Image 0" descr="Decorative shapes">    </p:cNvPr>
          <p:cNvPicPr>
            <a:picLocks noChangeAspect="1"/>
          </p:cNvPicPr>
          <p:nvPr/>
        </p:nvPicPr>
        <p:blipFill>
          <a:blip r:embed="rId1"/>
          <a:srcRect l="0" r="0" t="0" b="0"/>
          <a:stretch/>
        </p:blipFill>
        <p:spPr>
          <a:xfrm>
            <a:off x="10464800" y="152400"/>
            <a:ext cx="1524000" cy="533400"/>
          </a:xfrm>
          <a:prstGeom prst="rect">
            <a:avLst/>
          </a:prstGeom>
        </p:spPr>
      </p:pic>
      <p:pic>
        <p:nvPicPr>
          <p:cNvPr id="3" name="Image 1" descr="Decorative shapes">    </p:cNvPr>
          <p:cNvPicPr>
            <a:picLocks noChangeAspect="1"/>
          </p:cNvPicPr>
          <p:nvPr/>
        </p:nvPicPr>
        <p:blipFill>
          <a:blip r:embed="rId2"/>
          <a:srcRect l="0" r="0" t="0" b="0"/>
          <a:stretch/>
        </p:blipFill>
        <p:spPr>
          <a:xfrm>
            <a:off x="304800" y="3022600"/>
            <a:ext cx="177800" cy="8128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563EB"/>
                </a:solidFill>
                <a:latin typeface="Arial" pitchFamily="34" charset="0"/>
                <a:ea typeface="Arial" pitchFamily="34" charset="-122"/>
                <a:cs typeface="Arial" pitchFamily="34" charset="-120"/>
              </a:rPr>
              <a:t>03 · API</a:t>
            </a:r>
            <a:endParaRPr lang="en-US" sz="1200" dirty="0"/>
          </a:p>
        </p:txBody>
      </p:sp>
      <p:sp>
        <p:nvSpPr>
          <p:cNvPr id="5" name="Text 1"/>
          <p:cNvSpPr/>
          <p:nvPr>
            <p:ph type="title"/>
          </p:nvPr>
        </p:nvSpPr>
        <p:spPr>
          <a:xfrm>
            <a:off x="812800" y="10769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1B3D"/>
                </a:solidFill>
                <a:latin typeface="Arial" pitchFamily="34" charset="0"/>
                <a:ea typeface="Arial" pitchFamily="34" charset="-122"/>
                <a:cs typeface="Arial" pitchFamily="34" charset="-120"/>
              </a:rPr>
              <a:t>Four routes, plus free docs</a:t>
            </a:r>
            <a:endParaRPr lang="en-US" sz="3200" dirty="0"/>
          </a:p>
        </p:txBody>
      </p:sp>
      <p:sp>
        <p:nvSpPr>
          <p:cNvPr id="6" name="Shape 2"/>
          <p:cNvSpPr/>
          <p:nvPr/>
        </p:nvSpPr>
        <p:spPr>
          <a:xfrm>
            <a:off x="815975" y="1781110"/>
            <a:ext cx="10560050" cy="520237"/>
          </a:xfrm>
          <a:prstGeom prst="roundRect">
            <a:avLst>
              <a:gd name="adj" fmla="val 18919"/>
            </a:avLst>
          </a:prstGeom>
          <a:solidFill>
            <a:srgbClr val="FBFCFF"/>
          </a:solidFill>
          <a:ln w="6350">
            <a:solidFill>
              <a:srgbClr val="D6E2F7"/>
            </a:solidFill>
            <a:prstDash val="solid"/>
          </a:ln>
        </p:spPr>
      </p:sp>
      <p:sp>
        <p:nvSpPr>
          <p:cNvPr id="7" name="Text 3"/>
          <p:cNvSpPr/>
          <p:nvPr/>
        </p:nvSpPr>
        <p:spPr>
          <a:xfrm>
            <a:off x="1020233" y="1896467"/>
            <a:ext cx="698500" cy="289520"/>
          </a:xfrm>
          <a:custGeom>
            <a:avLst/>
            <a:gdLst/>
            <a:ahLst/>
            <a:cxnLst/>
            <a:rect l="l" t="t" r="r" b="b"/>
            <a:pathLst>
              <a:path w="698500" h="289520">
                <a:moveTo>
                  <a:pt x="50800" y="0"/>
                </a:moveTo>
                <a:lnTo>
                  <a:pt x="647700" y="0"/>
                </a:lnTo>
                <a:arcTo hR="50800" wR="50800" stAng="16200000" swAng="5400000"/>
                <a:lnTo>
                  <a:pt x="698500" y="238720"/>
                </a:lnTo>
                <a:arcTo hR="50800" wR="50800" stAng="0" swAng="5400000"/>
                <a:lnTo>
                  <a:pt x="50800" y="289520"/>
                </a:lnTo>
                <a:arcTo hR="50800" wR="50800" stAng="5400000" swAng="5400000"/>
                <a:lnTo>
                  <a:pt x="0" y="50800"/>
                </a:lnTo>
                <a:arcTo hR="50800" wR="50800" stAng="10800000" swAng="5400000"/>
                <a:close/>
              </a:path>
            </a:pathLst>
          </a:custGeom>
          <a:solidFill>
            <a:srgbClr val="E4ECFA"/>
          </a:solidFill>
          <a:ln/>
        </p:spPr>
        <p:txBody>
          <a:bodyPr wrap="square" lIns="0" tIns="38100" rIns="0" bIns="12700" rtlCol="0" anchor="t">
            <a:normAutofit/>
          </a:bodyPr>
          <a:lstStyle/>
          <a:p>
            <a:pPr algn="ctr" indent="0" marL="0">
              <a:lnSpc>
                <a:spcPts val="1680"/>
              </a:lnSpc>
              <a:buNone/>
            </a:pPr>
            <a:r>
              <a:rPr lang="en-US" sz="1200" b="1" dirty="0">
                <a:solidFill>
                  <a:srgbClr val="1E3A8A"/>
                </a:solidFill>
                <a:latin typeface="Arial" pitchFamily="34" charset="0"/>
                <a:ea typeface="Arial" pitchFamily="34" charset="-122"/>
                <a:cs typeface="Arial" pitchFamily="34" charset="-120"/>
              </a:rPr>
              <a:t>GET</a:t>
            </a:r>
            <a:endParaRPr lang="en-US" sz="1200" dirty="0"/>
          </a:p>
        </p:txBody>
      </p:sp>
      <p:sp>
        <p:nvSpPr>
          <p:cNvPr id="8" name="Text 4"/>
          <p:cNvSpPr/>
          <p:nvPr/>
        </p:nvSpPr>
        <p:spPr>
          <a:xfrm>
            <a:off x="1921933" y="1898982"/>
            <a:ext cx="274701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1B3D"/>
                </a:solidFill>
                <a:latin typeface="Courier New" pitchFamily="49" charset="0"/>
                <a:ea typeface="Courier New" pitchFamily="49" charset="-122"/>
                <a:cs typeface="Courier New" pitchFamily="49" charset="-120"/>
              </a:rPr>
              <a:t>/</a:t>
            </a:r>
            <a:endParaRPr lang="en-US" sz="1600" dirty="0"/>
          </a:p>
        </p:txBody>
      </p:sp>
      <p:sp>
        <p:nvSpPr>
          <p:cNvPr id="9" name="Text 5"/>
          <p:cNvSpPr/>
          <p:nvPr/>
        </p:nvSpPr>
        <p:spPr>
          <a:xfrm>
            <a:off x="4792133" y="1934567"/>
            <a:ext cx="65710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Landing message that points to /docs and /health</a:t>
            </a:r>
            <a:endParaRPr lang="en-US" sz="1200" dirty="0"/>
          </a:p>
        </p:txBody>
      </p:sp>
      <p:sp>
        <p:nvSpPr>
          <p:cNvPr id="10" name="Shape 6"/>
          <p:cNvSpPr/>
          <p:nvPr/>
        </p:nvSpPr>
        <p:spPr>
          <a:xfrm>
            <a:off x="815975" y="2409298"/>
            <a:ext cx="10560050" cy="520237"/>
          </a:xfrm>
          <a:prstGeom prst="roundRect">
            <a:avLst>
              <a:gd name="adj" fmla="val 18919"/>
            </a:avLst>
          </a:prstGeom>
          <a:solidFill>
            <a:srgbClr val="FBFCFF"/>
          </a:solidFill>
          <a:ln w="6350">
            <a:solidFill>
              <a:srgbClr val="D6E2F7"/>
            </a:solidFill>
            <a:prstDash val="solid"/>
          </a:ln>
        </p:spPr>
      </p:sp>
      <p:sp>
        <p:nvSpPr>
          <p:cNvPr id="11" name="Text 7"/>
          <p:cNvSpPr/>
          <p:nvPr/>
        </p:nvSpPr>
        <p:spPr>
          <a:xfrm>
            <a:off x="1020233" y="2524655"/>
            <a:ext cx="698500" cy="289520"/>
          </a:xfrm>
          <a:custGeom>
            <a:avLst/>
            <a:gdLst/>
            <a:ahLst/>
            <a:cxnLst/>
            <a:rect l="l" t="t" r="r" b="b"/>
            <a:pathLst>
              <a:path w="698500" h="289520">
                <a:moveTo>
                  <a:pt x="50800" y="0"/>
                </a:moveTo>
                <a:lnTo>
                  <a:pt x="647700" y="0"/>
                </a:lnTo>
                <a:arcTo hR="50800" wR="50800" stAng="16200000" swAng="5400000"/>
                <a:lnTo>
                  <a:pt x="698500" y="238720"/>
                </a:lnTo>
                <a:arcTo hR="50800" wR="50800" stAng="0" swAng="5400000"/>
                <a:lnTo>
                  <a:pt x="50800" y="289520"/>
                </a:lnTo>
                <a:arcTo hR="50800" wR="50800" stAng="5400000" swAng="5400000"/>
                <a:lnTo>
                  <a:pt x="0" y="50800"/>
                </a:lnTo>
                <a:arcTo hR="50800" wR="50800" stAng="10800000" swAng="5400000"/>
                <a:close/>
              </a:path>
            </a:pathLst>
          </a:custGeom>
          <a:solidFill>
            <a:srgbClr val="E4ECFA"/>
          </a:solidFill>
          <a:ln/>
        </p:spPr>
        <p:txBody>
          <a:bodyPr wrap="square" lIns="0" tIns="38100" rIns="0" bIns="12700" rtlCol="0" anchor="t">
            <a:normAutofit/>
          </a:bodyPr>
          <a:lstStyle/>
          <a:p>
            <a:pPr algn="ctr" indent="0" marL="0">
              <a:lnSpc>
                <a:spcPts val="1680"/>
              </a:lnSpc>
              <a:buNone/>
            </a:pPr>
            <a:r>
              <a:rPr lang="en-US" sz="1200" b="1" dirty="0">
                <a:solidFill>
                  <a:srgbClr val="1E3A8A"/>
                </a:solidFill>
                <a:latin typeface="Arial" pitchFamily="34" charset="0"/>
                <a:ea typeface="Arial" pitchFamily="34" charset="-122"/>
                <a:cs typeface="Arial" pitchFamily="34" charset="-120"/>
              </a:rPr>
              <a:t>GET</a:t>
            </a:r>
            <a:endParaRPr lang="en-US" sz="1200" dirty="0"/>
          </a:p>
        </p:txBody>
      </p:sp>
      <p:sp>
        <p:nvSpPr>
          <p:cNvPr id="12" name="Text 8"/>
          <p:cNvSpPr/>
          <p:nvPr/>
        </p:nvSpPr>
        <p:spPr>
          <a:xfrm>
            <a:off x="1921933" y="2527170"/>
            <a:ext cx="274701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1B3D"/>
                </a:solidFill>
                <a:latin typeface="Courier New" pitchFamily="49" charset="0"/>
                <a:ea typeface="Courier New" pitchFamily="49" charset="-122"/>
                <a:cs typeface="Courier New" pitchFamily="49" charset="-120"/>
              </a:rPr>
              <a:t>/health</a:t>
            </a:r>
            <a:endParaRPr lang="en-US" sz="1600" dirty="0"/>
          </a:p>
        </p:txBody>
      </p:sp>
      <p:sp>
        <p:nvSpPr>
          <p:cNvPr id="13" name="Text 9"/>
          <p:cNvSpPr/>
          <p:nvPr/>
        </p:nvSpPr>
        <p:spPr>
          <a:xfrm>
            <a:off x="4792133" y="2562755"/>
            <a:ext cx="65710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Liveness → {"status": "ok", "models": {"mushroom": true}}</a:t>
            </a:r>
            <a:endParaRPr lang="en-US" sz="1200" dirty="0"/>
          </a:p>
        </p:txBody>
      </p:sp>
      <p:sp>
        <p:nvSpPr>
          <p:cNvPr id="14" name="Shape 10"/>
          <p:cNvSpPr/>
          <p:nvPr/>
        </p:nvSpPr>
        <p:spPr>
          <a:xfrm>
            <a:off x="815975" y="3037483"/>
            <a:ext cx="10560050" cy="520237"/>
          </a:xfrm>
          <a:prstGeom prst="roundRect">
            <a:avLst>
              <a:gd name="adj" fmla="val 18919"/>
            </a:avLst>
          </a:prstGeom>
          <a:solidFill>
            <a:srgbClr val="FBFCFF"/>
          </a:solidFill>
          <a:ln w="6350">
            <a:solidFill>
              <a:srgbClr val="D6E2F7"/>
            </a:solidFill>
            <a:prstDash val="solid"/>
          </a:ln>
        </p:spPr>
      </p:sp>
      <p:sp>
        <p:nvSpPr>
          <p:cNvPr id="15" name="Text 11"/>
          <p:cNvSpPr/>
          <p:nvPr/>
        </p:nvSpPr>
        <p:spPr>
          <a:xfrm>
            <a:off x="1020233" y="3152843"/>
            <a:ext cx="698500" cy="289520"/>
          </a:xfrm>
          <a:custGeom>
            <a:avLst/>
            <a:gdLst/>
            <a:ahLst/>
            <a:cxnLst/>
            <a:rect l="l" t="t" r="r" b="b"/>
            <a:pathLst>
              <a:path w="698500" h="289520">
                <a:moveTo>
                  <a:pt x="50800" y="0"/>
                </a:moveTo>
                <a:lnTo>
                  <a:pt x="647700" y="0"/>
                </a:lnTo>
                <a:arcTo hR="50800" wR="50800" stAng="16200000" swAng="5400000"/>
                <a:lnTo>
                  <a:pt x="698500" y="238720"/>
                </a:lnTo>
                <a:arcTo hR="50800" wR="50800" stAng="0" swAng="5400000"/>
                <a:lnTo>
                  <a:pt x="50800" y="289520"/>
                </a:lnTo>
                <a:arcTo hR="50800" wR="50800" stAng="5400000" swAng="5400000"/>
                <a:lnTo>
                  <a:pt x="0" y="50800"/>
                </a:lnTo>
                <a:arcTo hR="50800" wR="50800" stAng="10800000" swAng="5400000"/>
                <a:close/>
              </a:path>
            </a:pathLst>
          </a:custGeom>
          <a:solidFill>
            <a:srgbClr val="E4ECFA"/>
          </a:solidFill>
          <a:ln/>
        </p:spPr>
        <p:txBody>
          <a:bodyPr wrap="square" lIns="0" tIns="38100" rIns="0" bIns="12700" rtlCol="0" anchor="t">
            <a:normAutofit/>
          </a:bodyPr>
          <a:lstStyle/>
          <a:p>
            <a:pPr algn="ctr" indent="0" marL="0">
              <a:lnSpc>
                <a:spcPts val="1680"/>
              </a:lnSpc>
              <a:buNone/>
            </a:pPr>
            <a:r>
              <a:rPr lang="en-US" sz="1200" b="1" dirty="0">
                <a:solidFill>
                  <a:srgbClr val="1E3A8A"/>
                </a:solidFill>
                <a:latin typeface="Arial" pitchFamily="34" charset="0"/>
                <a:ea typeface="Arial" pitchFamily="34" charset="-122"/>
                <a:cs typeface="Arial" pitchFamily="34" charset="-120"/>
              </a:rPr>
              <a:t>GET</a:t>
            </a:r>
            <a:endParaRPr lang="en-US" sz="1200" dirty="0"/>
          </a:p>
        </p:txBody>
      </p:sp>
      <p:sp>
        <p:nvSpPr>
          <p:cNvPr id="16" name="Text 12"/>
          <p:cNvSpPr/>
          <p:nvPr/>
        </p:nvSpPr>
        <p:spPr>
          <a:xfrm>
            <a:off x="1921933" y="3155355"/>
            <a:ext cx="274701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1B3D"/>
                </a:solidFill>
                <a:latin typeface="Courier New" pitchFamily="49" charset="0"/>
                <a:ea typeface="Courier New" pitchFamily="49" charset="-122"/>
                <a:cs typeface="Courier New" pitchFamily="49" charset="-120"/>
              </a:rPr>
              <a:t>/models</a:t>
            </a:r>
            <a:endParaRPr lang="en-US" sz="1600" dirty="0"/>
          </a:p>
        </p:txBody>
      </p:sp>
      <p:sp>
        <p:nvSpPr>
          <p:cNvPr id="17" name="Text 13"/>
          <p:cNvSpPr/>
          <p:nvPr/>
        </p:nvSpPr>
        <p:spPr>
          <a:xfrm>
            <a:off x="4792133" y="3190943"/>
            <a:ext cx="65710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Model card: algorithm, trained_at and test metrics</a:t>
            </a:r>
            <a:endParaRPr lang="en-US" sz="1200" dirty="0"/>
          </a:p>
        </p:txBody>
      </p:sp>
      <p:sp>
        <p:nvSpPr>
          <p:cNvPr id="18" name="Shape 14"/>
          <p:cNvSpPr/>
          <p:nvPr/>
        </p:nvSpPr>
        <p:spPr>
          <a:xfrm>
            <a:off x="815975" y="3665671"/>
            <a:ext cx="10560050" cy="520237"/>
          </a:xfrm>
          <a:prstGeom prst="roundRect">
            <a:avLst>
              <a:gd name="adj" fmla="val 18919"/>
            </a:avLst>
          </a:prstGeom>
          <a:solidFill>
            <a:srgbClr val="0A1A3F"/>
          </a:solidFill>
          <a:ln w="6350">
            <a:solidFill>
              <a:srgbClr val="0A1A3F"/>
            </a:solidFill>
            <a:prstDash val="solid"/>
          </a:ln>
          <a:effectLst>
            <a:outerShdw sx="100000" sy="100000" kx="0" ky="0" algn="bl" rotWithShape="0" blurRad="203200" dist="76200" dir="5400000">
              <a:srgbClr val="2563EB">
                <a:alpha val="20000"/>
              </a:srgbClr>
            </a:outerShdw>
          </a:effectLst>
        </p:spPr>
      </p:sp>
      <p:sp>
        <p:nvSpPr>
          <p:cNvPr id="19" name="Text 15"/>
          <p:cNvSpPr/>
          <p:nvPr/>
        </p:nvSpPr>
        <p:spPr>
          <a:xfrm>
            <a:off x="1020233" y="3781028"/>
            <a:ext cx="698500" cy="289520"/>
          </a:xfrm>
          <a:custGeom>
            <a:avLst/>
            <a:gdLst/>
            <a:ahLst/>
            <a:cxnLst/>
            <a:rect l="l" t="t" r="r" b="b"/>
            <a:pathLst>
              <a:path w="698500" h="289520">
                <a:moveTo>
                  <a:pt x="50800" y="0"/>
                </a:moveTo>
                <a:lnTo>
                  <a:pt x="647700" y="0"/>
                </a:lnTo>
                <a:arcTo hR="50800" wR="50800" stAng="16200000" swAng="5400000"/>
                <a:lnTo>
                  <a:pt x="698500" y="238720"/>
                </a:lnTo>
                <a:arcTo hR="50800" wR="50800" stAng="0" swAng="5400000"/>
                <a:lnTo>
                  <a:pt x="50800" y="289520"/>
                </a:lnTo>
                <a:arcTo hR="50800" wR="50800" stAng="5400000" swAng="5400000"/>
                <a:lnTo>
                  <a:pt x="0" y="50800"/>
                </a:lnTo>
                <a:arcTo hR="50800" wR="50800" stAng="10800000" swAng="5400000"/>
                <a:close/>
              </a:path>
            </a:pathLst>
          </a:custGeom>
          <a:solidFill>
            <a:srgbClr val="2563EB"/>
          </a:solidFill>
          <a:ln/>
        </p:spPr>
        <p:txBody>
          <a:bodyPr wrap="square" lIns="0" tIns="38100" rIns="0" bIns="12700" rtlCol="0" anchor="t">
            <a:normAutofit/>
          </a:bodyPr>
          <a:lstStyle/>
          <a:p>
            <a:pPr algn="ctr" indent="0" marL="0">
              <a:lnSpc>
                <a:spcPts val="1680"/>
              </a:lnSpc>
              <a:buNone/>
            </a:pPr>
            <a:r>
              <a:rPr lang="en-US" sz="1200" b="1" dirty="0">
                <a:solidFill>
                  <a:srgbClr val="F3F7FE"/>
                </a:solidFill>
                <a:latin typeface="Arial" pitchFamily="34" charset="0"/>
                <a:ea typeface="Arial" pitchFamily="34" charset="-122"/>
                <a:cs typeface="Arial" pitchFamily="34" charset="-120"/>
              </a:rPr>
              <a:t>POST</a:t>
            </a:r>
            <a:endParaRPr lang="en-US" sz="1200" dirty="0"/>
          </a:p>
        </p:txBody>
      </p:sp>
      <p:sp>
        <p:nvSpPr>
          <p:cNvPr id="20" name="Text 16"/>
          <p:cNvSpPr/>
          <p:nvPr/>
        </p:nvSpPr>
        <p:spPr>
          <a:xfrm>
            <a:off x="1921933" y="3783543"/>
            <a:ext cx="274701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7DD3FC"/>
                </a:solidFill>
                <a:latin typeface="Courier New" pitchFamily="49" charset="0"/>
                <a:ea typeface="Courier New" pitchFamily="49" charset="-122"/>
                <a:cs typeface="Courier New" pitchFamily="49" charset="-120"/>
              </a:rPr>
              <a:t>/mushroom/predict</a:t>
            </a:r>
            <a:endParaRPr lang="en-US" sz="1600" dirty="0"/>
          </a:p>
        </p:txBody>
      </p:sp>
      <p:sp>
        <p:nvSpPr>
          <p:cNvPr id="21" name="Text 17"/>
          <p:cNvSpPr/>
          <p:nvPr/>
        </p:nvSpPr>
        <p:spPr>
          <a:xfrm>
            <a:off x="4792133" y="3819128"/>
            <a:ext cx="657102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3F2"/>
                </a:solidFill>
                <a:latin typeface="Arial" pitchFamily="34" charset="0"/>
                <a:ea typeface="Arial" pitchFamily="34" charset="-122"/>
                <a:cs typeface="Arial" pitchFamily="34" charset="-120"/>
              </a:rPr>
              <a:t>22 features in → label, class_name, confidence, probabilities</a:t>
            </a:r>
            <a:endParaRPr lang="en-US" sz="1200" dirty="0"/>
          </a:p>
        </p:txBody>
      </p:sp>
      <p:sp>
        <p:nvSpPr>
          <p:cNvPr id="22" name="Shape 18"/>
          <p:cNvSpPr/>
          <p:nvPr/>
        </p:nvSpPr>
        <p:spPr>
          <a:xfrm>
            <a:off x="819150" y="4297034"/>
            <a:ext cx="10553700" cy="530820"/>
          </a:xfrm>
          <a:prstGeom prst="roundRect">
            <a:avLst>
              <a:gd name="adj" fmla="val 17944"/>
            </a:avLst>
          </a:prstGeom>
          <a:solidFill>
            <a:srgbClr val="E4ECFA"/>
          </a:solidFill>
          <a:ln w="12700">
            <a:solidFill>
              <a:srgbClr val="93B4F0"/>
            </a:solidFill>
            <a:prstDash val="dash"/>
          </a:ln>
        </p:spPr>
      </p:sp>
      <p:sp>
        <p:nvSpPr>
          <p:cNvPr id="23" name="Text 19"/>
          <p:cNvSpPr/>
          <p:nvPr/>
        </p:nvSpPr>
        <p:spPr>
          <a:xfrm>
            <a:off x="1028700" y="4417684"/>
            <a:ext cx="698500" cy="289520"/>
          </a:xfrm>
          <a:custGeom>
            <a:avLst/>
            <a:gdLst/>
            <a:ahLst/>
            <a:cxnLst/>
            <a:rect l="l" t="t" r="r" b="b"/>
            <a:pathLst>
              <a:path w="698500" h="289520">
                <a:moveTo>
                  <a:pt x="50800" y="0"/>
                </a:moveTo>
                <a:lnTo>
                  <a:pt x="647700" y="0"/>
                </a:lnTo>
                <a:arcTo hR="50800" wR="50800" stAng="16200000" swAng="5400000"/>
                <a:lnTo>
                  <a:pt x="698500" y="238720"/>
                </a:lnTo>
                <a:arcTo hR="50800" wR="50800" stAng="0" swAng="5400000"/>
                <a:lnTo>
                  <a:pt x="50800" y="289520"/>
                </a:lnTo>
                <a:arcTo hR="50800" wR="50800" stAng="5400000" swAng="5400000"/>
                <a:lnTo>
                  <a:pt x="0" y="50800"/>
                </a:lnTo>
                <a:arcTo hR="50800" wR="50800" stAng="10800000" swAng="5400000"/>
                <a:close/>
              </a:path>
            </a:pathLst>
          </a:custGeom>
          <a:solidFill>
            <a:srgbClr val="FBFCFF"/>
          </a:solidFill>
          <a:ln/>
        </p:spPr>
        <p:txBody>
          <a:bodyPr wrap="square" lIns="0" tIns="38100" rIns="0" bIns="12700" rtlCol="0" anchor="t">
            <a:normAutofit/>
          </a:bodyPr>
          <a:lstStyle/>
          <a:p>
            <a:pPr algn="ctr" indent="0" marL="0">
              <a:lnSpc>
                <a:spcPts val="1680"/>
              </a:lnSpc>
              <a:buNone/>
            </a:pPr>
            <a:r>
              <a:rPr lang="en-US" sz="1200" b="1" dirty="0">
                <a:solidFill>
                  <a:srgbClr val="1E3A8A"/>
                </a:solidFill>
                <a:latin typeface="Arial" pitchFamily="34" charset="0"/>
                <a:ea typeface="Arial" pitchFamily="34" charset="-122"/>
                <a:cs typeface="Arial" pitchFamily="34" charset="-120"/>
              </a:rPr>
              <a:t>GET</a:t>
            </a:r>
            <a:endParaRPr lang="en-US" sz="1200" dirty="0"/>
          </a:p>
        </p:txBody>
      </p:sp>
      <p:sp>
        <p:nvSpPr>
          <p:cNvPr id="24" name="Text 20"/>
          <p:cNvSpPr/>
          <p:nvPr/>
        </p:nvSpPr>
        <p:spPr>
          <a:xfrm>
            <a:off x="1930400" y="4420195"/>
            <a:ext cx="274701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B1B3D"/>
                </a:solidFill>
                <a:latin typeface="Courier New" pitchFamily="49" charset="0"/>
                <a:ea typeface="Courier New" pitchFamily="49" charset="-122"/>
                <a:cs typeface="Courier New" pitchFamily="49" charset="-120"/>
              </a:rPr>
              <a:t>/docs</a:t>
            </a:r>
            <a:endParaRPr lang="en-US" sz="1600" dirty="0"/>
          </a:p>
        </p:txBody>
      </p:sp>
      <p:sp>
        <p:nvSpPr>
          <p:cNvPr id="25" name="Text 21"/>
          <p:cNvSpPr/>
          <p:nvPr/>
        </p:nvSpPr>
        <p:spPr>
          <a:xfrm>
            <a:off x="4800600" y="4455784"/>
            <a:ext cx="655358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Swagger UI generated by FastAPI — try every route in the browser</a:t>
            </a:r>
            <a:endParaRPr lang="en-US" sz="1200" dirty="0"/>
          </a:p>
        </p:txBody>
      </p:sp>
      <p:sp>
        <p:nvSpPr>
          <p:cNvPr id="26" name="Text 22"/>
          <p:cNvSpPr/>
          <p:nvPr/>
        </p:nvSpPr>
        <p:spPr>
          <a:xfrm>
            <a:off x="812800" y="6238280"/>
            <a:ext cx="41266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58C"/>
                </a:solidFill>
                <a:latin typeface="Arial" pitchFamily="34" charset="0"/>
                <a:ea typeface="Arial" pitchFamily="34" charset="-122"/>
                <a:cs typeface="Arial" pitchFamily="34" charset="-120"/>
              </a:rPr>
              <a:t>Mushroom Prediction · Train &amp; serve · app/main.py</a:t>
            </a:r>
            <a:endParaRPr lang="en-US" sz="1200" dirty="0"/>
          </a:p>
        </p:txBody>
      </p:sp>
      <p:sp>
        <p:nvSpPr>
          <p:cNvPr id="27" name="Text 23"/>
          <p:cNvSpPr/>
          <p:nvPr/>
        </p:nvSpPr>
        <p:spPr>
          <a:xfrm>
            <a:off x="10830005" y="6238280"/>
            <a:ext cx="549196"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2658C"/>
                </a:solidFill>
                <a:latin typeface="Arial" pitchFamily="34" charset="0"/>
                <a:ea typeface="Arial" pitchFamily="34" charset="-122"/>
                <a:cs typeface="Arial" pitchFamily="34" charset="-120"/>
              </a:rPr>
              <a:t>08 / 11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3F7FE"/>
        </a:solidFill>
      </p:bgPr>
    </p:bg>
    <p:spTree>
      <p:nvGrpSpPr>
        <p:cNvPr id="1" name=""/>
        <p:cNvGrpSpPr/>
        <p:nvPr/>
      </p:nvGrpSpPr>
      <p:grpSpPr>
        <a:xfrm>
          <a:off x="0" y="0"/>
          <a:ext cx="0" cy="0"/>
          <a:chOff x="0" y="0"/>
          <a:chExt cx="0" cy="0"/>
        </a:xfrm>
      </p:grpSpPr>
      <p:pic>
        <p:nvPicPr>
          <p:cNvPr id="2" name="Image 0" descr="Decorative shapes">    </p:cNvPr>
          <p:cNvPicPr>
            <a:picLocks noChangeAspect="1"/>
          </p:cNvPicPr>
          <p:nvPr/>
        </p:nvPicPr>
        <p:blipFill>
          <a:blip r:embed="rId1"/>
          <a:srcRect l="0" r="0" t="0" b="0"/>
          <a:stretch/>
        </p:blipFill>
        <p:spPr>
          <a:xfrm>
            <a:off x="10464800" y="152400"/>
            <a:ext cx="1524000" cy="533400"/>
          </a:xfrm>
          <a:prstGeom prst="rect">
            <a:avLst/>
          </a:prstGeom>
        </p:spPr>
      </p:pic>
      <p:sp>
        <p:nvSpPr>
          <p:cNvPr id="3"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563EB"/>
                </a:solidFill>
                <a:latin typeface="Arial" pitchFamily="34" charset="0"/>
                <a:ea typeface="Arial" pitchFamily="34" charset="-122"/>
                <a:cs typeface="Arial" pitchFamily="34" charset="-120"/>
              </a:rPr>
              <a:t>03 · API</a:t>
            </a:r>
            <a:endParaRPr lang="en-US" sz="1200" dirty="0"/>
          </a:p>
        </p:txBody>
      </p:sp>
      <p:sp>
        <p:nvSpPr>
          <p:cNvPr id="4" name="Text 1"/>
          <p:cNvSpPr/>
          <p:nvPr>
            <p:ph type="title"/>
          </p:nvPr>
        </p:nvSpPr>
        <p:spPr>
          <a:xfrm>
            <a:off x="812800" y="10769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1B3D"/>
                </a:solidFill>
                <a:latin typeface="Arial" pitchFamily="34" charset="0"/>
                <a:ea typeface="Arial" pitchFamily="34" charset="-122"/>
                <a:cs typeface="Arial" pitchFamily="34" charset="-120"/>
              </a:rPr>
              <a:t>One request, one answer</a:t>
            </a:r>
            <a:endParaRPr lang="en-US" sz="3200" dirty="0"/>
          </a:p>
        </p:txBody>
      </p:sp>
      <p:sp>
        <p:nvSpPr>
          <p:cNvPr id="5" name="Shape 2"/>
          <p:cNvSpPr/>
          <p:nvPr/>
        </p:nvSpPr>
        <p:spPr>
          <a:xfrm>
            <a:off x="812800" y="1777938"/>
            <a:ext cx="4775200" cy="3083520"/>
          </a:xfrm>
          <a:prstGeom prst="roundRect">
            <a:avLst>
              <a:gd name="adj" fmla="val 4119"/>
            </a:avLst>
          </a:prstGeom>
          <a:solidFill>
            <a:srgbClr val="0B1B3D"/>
          </a:solidFill>
          <a:ln/>
        </p:spPr>
      </p:sp>
      <p:sp>
        <p:nvSpPr>
          <p:cNvPr id="6" name="Text 3"/>
          <p:cNvSpPr/>
          <p:nvPr/>
        </p:nvSpPr>
        <p:spPr>
          <a:xfrm>
            <a:off x="1016000" y="1981138"/>
            <a:ext cx="2189824" cy="289520"/>
          </a:xfrm>
          <a:prstGeom prst="roundRect">
            <a:avLst>
              <a:gd name="adj" fmla="val 17546"/>
            </a:avLst>
          </a:prstGeom>
          <a:solidFill>
            <a:srgbClr val="2563EB"/>
          </a:solidFill>
          <a:ln/>
        </p:spPr>
        <p:txBody>
          <a:bodyPr wrap="none" lIns="0" tIns="0" rIns="0" bIns="0" rtlCol="0" anchor="ctr">
            <a:normAutofit/>
          </a:bodyPr>
          <a:lstStyle/>
          <a:p>
            <a:pPr algn="ctr" indent="0" marL="0">
              <a:lnSpc>
                <a:spcPts val="1680"/>
              </a:lnSpc>
              <a:buNone/>
            </a:pPr>
            <a:r>
              <a:rPr lang="en-US" sz="1200" b="1" dirty="0">
                <a:solidFill>
                  <a:srgbClr val="F3F7FE"/>
                </a:solidFill>
                <a:latin typeface="Courier New" pitchFamily="49" charset="0"/>
                <a:ea typeface="Courier New" pitchFamily="49" charset="-122"/>
                <a:cs typeface="Courier New" pitchFamily="49" charset="-120"/>
              </a:rPr>
              <a:t>POST /mushroom/predict</a:t>
            </a:r>
            <a:endParaRPr lang="en-US" sz="1200" dirty="0"/>
          </a:p>
        </p:txBody>
      </p:sp>
      <p:sp>
        <p:nvSpPr>
          <p:cNvPr id="7" name="Text 4"/>
          <p:cNvSpPr/>
          <p:nvPr/>
        </p:nvSpPr>
        <p:spPr>
          <a:xfrm>
            <a:off x="1016000" y="2372258"/>
            <a:ext cx="4499864" cy="23114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a:t>
            </a:r>
            <a:endParaRPr lang="en-US" sz="1200" dirty="0"/>
          </a:p>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  </a:t>
            </a:r>
            <a:r>
              <a:rPr lang="en-US" sz="1200" dirty="0">
                <a:solidFill>
                  <a:srgbClr val="7DD3FC"/>
                </a:solidFill>
                <a:latin typeface="Courier New" pitchFamily="49" charset="0"/>
                <a:ea typeface="Courier New" pitchFamily="49" charset="-122"/>
                <a:cs typeface="Courier New" pitchFamily="49" charset="-120"/>
              </a:rPr>
              <a:t>"cap-shape"</a:t>
            </a:r>
            <a:r>
              <a:rPr lang="en-US" sz="1200" dirty="0">
                <a:solidFill>
                  <a:srgbClr val="E6EEFC"/>
                </a:solidFill>
                <a:latin typeface="Courier New" pitchFamily="49" charset="0"/>
                <a:ea typeface="Courier New" pitchFamily="49" charset="-122"/>
                <a:cs typeface="Courier New" pitchFamily="49" charset="-120"/>
              </a:rPr>
              <a:t>: "x",</a:t>
            </a:r>
            <a:endParaRPr lang="en-US" sz="1200" dirty="0"/>
          </a:p>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  </a:t>
            </a:r>
            <a:r>
              <a:rPr lang="en-US" sz="1200" dirty="0">
                <a:solidFill>
                  <a:srgbClr val="7DD3FC"/>
                </a:solidFill>
                <a:latin typeface="Courier New" pitchFamily="49" charset="0"/>
                <a:ea typeface="Courier New" pitchFamily="49" charset="-122"/>
                <a:cs typeface="Courier New" pitchFamily="49" charset="-120"/>
              </a:rPr>
              <a:t>"cap-surface"</a:t>
            </a:r>
            <a:r>
              <a:rPr lang="en-US" sz="1200" dirty="0">
                <a:solidFill>
                  <a:srgbClr val="E6EEFC"/>
                </a:solidFill>
                <a:latin typeface="Courier New" pitchFamily="49" charset="0"/>
                <a:ea typeface="Courier New" pitchFamily="49" charset="-122"/>
                <a:cs typeface="Courier New" pitchFamily="49" charset="-120"/>
              </a:rPr>
              <a:t>: "s",</a:t>
            </a:r>
            <a:endParaRPr lang="en-US" sz="1200" dirty="0"/>
          </a:p>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  </a:t>
            </a:r>
            <a:r>
              <a:rPr lang="en-US" sz="1200" dirty="0">
                <a:solidFill>
                  <a:srgbClr val="7DD3FC"/>
                </a:solidFill>
                <a:latin typeface="Courier New" pitchFamily="49" charset="0"/>
                <a:ea typeface="Courier New" pitchFamily="49" charset="-122"/>
                <a:cs typeface="Courier New" pitchFamily="49" charset="-120"/>
              </a:rPr>
              <a:t>"cap-color"</a:t>
            </a:r>
            <a:r>
              <a:rPr lang="en-US" sz="1200" dirty="0">
                <a:solidFill>
                  <a:srgbClr val="E6EEFC"/>
                </a:solidFill>
                <a:latin typeface="Courier New" pitchFamily="49" charset="0"/>
                <a:ea typeface="Courier New" pitchFamily="49" charset="-122"/>
                <a:cs typeface="Courier New" pitchFamily="49" charset="-120"/>
              </a:rPr>
              <a:t>: "n",</a:t>
            </a:r>
            <a:endParaRPr lang="en-US" sz="1200" dirty="0"/>
          </a:p>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  </a:t>
            </a:r>
            <a:r>
              <a:rPr lang="en-US" sz="1200" dirty="0">
                <a:solidFill>
                  <a:srgbClr val="7DD3FC"/>
                </a:solidFill>
                <a:latin typeface="Courier New" pitchFamily="49" charset="0"/>
                <a:ea typeface="Courier New" pitchFamily="49" charset="-122"/>
                <a:cs typeface="Courier New" pitchFamily="49" charset="-120"/>
              </a:rPr>
              <a:t>"bruises"</a:t>
            </a:r>
            <a:r>
              <a:rPr lang="en-US" sz="1200" dirty="0">
                <a:solidFill>
                  <a:srgbClr val="E6EEFC"/>
                </a:solidFill>
                <a:latin typeface="Courier New" pitchFamily="49" charset="0"/>
                <a:ea typeface="Courier New" pitchFamily="49" charset="-122"/>
                <a:cs typeface="Courier New" pitchFamily="49" charset="-120"/>
              </a:rPr>
              <a:t>: "t",</a:t>
            </a:r>
            <a:endParaRPr lang="en-US" sz="1200" dirty="0"/>
          </a:p>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  </a:t>
            </a:r>
            <a:r>
              <a:rPr lang="en-US" sz="1200" dirty="0">
                <a:solidFill>
                  <a:srgbClr val="7DD3FC"/>
                </a:solidFill>
                <a:latin typeface="Courier New" pitchFamily="49" charset="0"/>
                <a:ea typeface="Courier New" pitchFamily="49" charset="-122"/>
                <a:cs typeface="Courier New" pitchFamily="49" charset="-120"/>
              </a:rPr>
              <a:t>"odor"</a:t>
            </a:r>
            <a:r>
              <a:rPr lang="en-US" sz="1200" dirty="0">
                <a:solidFill>
                  <a:srgbClr val="E6EEFC"/>
                </a:solidFill>
                <a:latin typeface="Courier New" pitchFamily="49" charset="0"/>
                <a:ea typeface="Courier New" pitchFamily="49" charset="-122"/>
                <a:cs typeface="Courier New" pitchFamily="49" charset="-120"/>
              </a:rPr>
              <a:t>: "p",</a:t>
            </a:r>
            <a:endParaRPr lang="en-US" sz="1200" dirty="0"/>
          </a:p>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  </a:t>
            </a:r>
            <a:r>
              <a:rPr lang="en-US" sz="1200" dirty="0">
                <a:solidFill>
                  <a:srgbClr val="7DD3FC"/>
                </a:solidFill>
                <a:latin typeface="Courier New" pitchFamily="49" charset="0"/>
                <a:ea typeface="Courier New" pitchFamily="49" charset="-122"/>
                <a:cs typeface="Courier New" pitchFamily="49" charset="-120"/>
              </a:rPr>
              <a:t>"gill-attachment"</a:t>
            </a:r>
            <a:r>
              <a:rPr lang="en-US" sz="1200" dirty="0">
                <a:solidFill>
                  <a:srgbClr val="E6EEFC"/>
                </a:solidFill>
                <a:latin typeface="Courier New" pitchFamily="49" charset="0"/>
                <a:ea typeface="Courier New" pitchFamily="49" charset="-122"/>
                <a:cs typeface="Courier New" pitchFamily="49" charset="-120"/>
              </a:rPr>
              <a:t>: "f",</a:t>
            </a:r>
            <a:endParaRPr lang="en-US" sz="1200" dirty="0"/>
          </a:p>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  </a:t>
            </a:r>
            <a:r>
              <a:rPr lang="en-US" sz="1200" dirty="0">
                <a:solidFill>
                  <a:srgbClr val="93B4F0"/>
                </a:solidFill>
                <a:latin typeface="Courier New" pitchFamily="49" charset="0"/>
                <a:ea typeface="Courier New" pitchFamily="49" charset="-122"/>
                <a:cs typeface="Courier New" pitchFamily="49" charset="-120"/>
              </a:rPr>
              <a:t>… 15 more features …</a:t>
            </a:r>
            <a:endParaRPr lang="en-US" sz="1200" dirty="0"/>
          </a:p>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  </a:t>
            </a:r>
            <a:r>
              <a:rPr lang="en-US" sz="1200" dirty="0">
                <a:solidFill>
                  <a:srgbClr val="7DD3FC"/>
                </a:solidFill>
                <a:latin typeface="Courier New" pitchFamily="49" charset="0"/>
                <a:ea typeface="Courier New" pitchFamily="49" charset="-122"/>
                <a:cs typeface="Courier New" pitchFamily="49" charset="-120"/>
              </a:rPr>
              <a:t>"habitat"</a:t>
            </a:r>
            <a:r>
              <a:rPr lang="en-US" sz="1200" dirty="0">
                <a:solidFill>
                  <a:srgbClr val="E6EEFC"/>
                </a:solidFill>
                <a:latin typeface="Courier New" pitchFamily="49" charset="0"/>
                <a:ea typeface="Courier New" pitchFamily="49" charset="-122"/>
                <a:cs typeface="Courier New" pitchFamily="49" charset="-120"/>
              </a:rPr>
              <a:t>: "u"</a:t>
            </a:r>
            <a:endParaRPr lang="en-US" sz="1200" dirty="0"/>
          </a:p>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a:t>
            </a:r>
            <a:endParaRPr lang="en-US" sz="1200" dirty="0"/>
          </a:p>
        </p:txBody>
      </p:sp>
      <p:sp>
        <p:nvSpPr>
          <p:cNvPr id="8" name="Text 5"/>
          <p:cNvSpPr/>
          <p:nvPr/>
        </p:nvSpPr>
        <p:spPr>
          <a:xfrm>
            <a:off x="812800" y="4963058"/>
            <a:ext cx="491845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Same hyphenated names as the CSV columns — row 1 of mushrooms.csv</a:t>
            </a:r>
            <a:endParaRPr lang="en-US" sz="1200" dirty="0"/>
          </a:p>
        </p:txBody>
      </p:sp>
      <p:pic>
        <p:nvPicPr>
          <p:cNvPr id="9" name="Image 1" descr="arrow-right">    </p:cNvPr>
          <p:cNvPicPr>
            <a:picLocks noChangeAspect="1"/>
          </p:cNvPicPr>
          <p:nvPr/>
        </p:nvPicPr>
        <p:blipFill>
          <a:blip r:embed="rId2"/>
          <a:srcRect l="0" r="0" t="0" b="0"/>
          <a:stretch/>
        </p:blipFill>
        <p:spPr>
          <a:xfrm>
            <a:off x="5791200" y="3286658"/>
            <a:ext cx="609600" cy="304800"/>
          </a:xfrm>
          <a:prstGeom prst="rect">
            <a:avLst/>
          </a:prstGeom>
        </p:spPr>
      </p:pic>
      <p:sp>
        <p:nvSpPr>
          <p:cNvPr id="10" name="Text 6"/>
          <p:cNvSpPr/>
          <p:nvPr/>
        </p:nvSpPr>
        <p:spPr>
          <a:xfrm>
            <a:off x="5857161" y="3667658"/>
            <a:ext cx="477679"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2563EB"/>
                </a:solidFill>
                <a:latin typeface="Arial" pitchFamily="34" charset="0"/>
                <a:ea typeface="Arial" pitchFamily="34" charset="-122"/>
                <a:cs typeface="Arial" pitchFamily="34" charset="-120"/>
              </a:rPr>
              <a:t>ml.py</a:t>
            </a:r>
            <a:endParaRPr lang="en-US" sz="1200" dirty="0"/>
          </a:p>
        </p:txBody>
      </p:sp>
      <p:sp>
        <p:nvSpPr>
          <p:cNvPr id="11" name="Shape 7"/>
          <p:cNvSpPr/>
          <p:nvPr/>
        </p:nvSpPr>
        <p:spPr>
          <a:xfrm>
            <a:off x="6604000" y="1998861"/>
            <a:ext cx="4775200" cy="2854920"/>
          </a:xfrm>
          <a:prstGeom prst="roundRect">
            <a:avLst>
              <a:gd name="adj" fmla="val 4448"/>
            </a:avLst>
          </a:prstGeom>
          <a:solidFill>
            <a:srgbClr val="0B1B3D"/>
          </a:solidFill>
          <a:ln/>
        </p:spPr>
      </p:sp>
      <p:sp>
        <p:nvSpPr>
          <p:cNvPr id="12" name="Text 8"/>
          <p:cNvSpPr/>
          <p:nvPr/>
        </p:nvSpPr>
        <p:spPr>
          <a:xfrm>
            <a:off x="6807200" y="2202061"/>
            <a:ext cx="726546" cy="289520"/>
          </a:xfrm>
          <a:prstGeom prst="roundRect">
            <a:avLst>
              <a:gd name="adj" fmla="val 17546"/>
            </a:avLst>
          </a:prstGeom>
          <a:solidFill>
            <a:srgbClr val="38BDF8"/>
          </a:solidFill>
          <a:ln/>
        </p:spPr>
        <p:txBody>
          <a:bodyPr wrap="none" lIns="0" tIns="0" rIns="0" bIns="0" rtlCol="0" anchor="ctr">
            <a:normAutofit/>
          </a:bodyPr>
          <a:lstStyle/>
          <a:p>
            <a:pPr algn="ctr" indent="0" marL="0">
              <a:lnSpc>
                <a:spcPts val="1680"/>
              </a:lnSpc>
              <a:buNone/>
            </a:pPr>
            <a:r>
              <a:rPr lang="en-US" sz="1200" b="1" dirty="0">
                <a:solidFill>
                  <a:srgbClr val="0B1B3D"/>
                </a:solidFill>
                <a:latin typeface="Courier New" pitchFamily="49" charset="0"/>
                <a:ea typeface="Courier New" pitchFamily="49" charset="-122"/>
                <a:cs typeface="Courier New" pitchFamily="49" charset="-120"/>
              </a:rPr>
              <a:t>200 OK</a:t>
            </a:r>
            <a:endParaRPr lang="en-US" sz="1200" dirty="0"/>
          </a:p>
        </p:txBody>
      </p:sp>
      <p:sp>
        <p:nvSpPr>
          <p:cNvPr id="13" name="Text 9"/>
          <p:cNvSpPr/>
          <p:nvPr/>
        </p:nvSpPr>
        <p:spPr>
          <a:xfrm>
            <a:off x="6807200" y="2593181"/>
            <a:ext cx="4499864" cy="20828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a:t>
            </a:r>
            <a:endParaRPr lang="en-US" sz="1200" dirty="0"/>
          </a:p>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  </a:t>
            </a:r>
            <a:r>
              <a:rPr lang="en-US" sz="1200" dirty="0">
                <a:solidFill>
                  <a:srgbClr val="7DD3FC"/>
                </a:solidFill>
                <a:latin typeface="Courier New" pitchFamily="49" charset="0"/>
                <a:ea typeface="Courier New" pitchFamily="49" charset="-122"/>
                <a:cs typeface="Courier New" pitchFamily="49" charset="-120"/>
              </a:rPr>
              <a:t>"label"</a:t>
            </a:r>
            <a:r>
              <a:rPr lang="en-US" sz="1200" dirty="0">
                <a:solidFill>
                  <a:srgbClr val="E6EEFC"/>
                </a:solidFill>
                <a:latin typeface="Courier New" pitchFamily="49" charset="0"/>
                <a:ea typeface="Courier New" pitchFamily="49" charset="-122"/>
                <a:cs typeface="Courier New" pitchFamily="49" charset="-120"/>
              </a:rPr>
              <a:t>: "p",</a:t>
            </a:r>
            <a:endParaRPr lang="en-US" sz="1200" dirty="0"/>
          </a:p>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  </a:t>
            </a:r>
            <a:r>
              <a:rPr lang="en-US" sz="1200" dirty="0">
                <a:solidFill>
                  <a:srgbClr val="7DD3FC"/>
                </a:solidFill>
                <a:latin typeface="Courier New" pitchFamily="49" charset="0"/>
                <a:ea typeface="Courier New" pitchFamily="49" charset="-122"/>
                <a:cs typeface="Courier New" pitchFamily="49" charset="-120"/>
              </a:rPr>
              <a:t>"class_name"</a:t>
            </a:r>
            <a:r>
              <a:rPr lang="en-US" sz="1200" dirty="0">
                <a:solidFill>
                  <a:srgbClr val="E6EEFC"/>
                </a:solidFill>
                <a:latin typeface="Courier New" pitchFamily="49" charset="0"/>
                <a:ea typeface="Courier New" pitchFamily="49" charset="-122"/>
                <a:cs typeface="Courier New" pitchFamily="49" charset="-120"/>
              </a:rPr>
              <a:t>: "poisonous",</a:t>
            </a:r>
            <a:endParaRPr lang="en-US" sz="1200" dirty="0"/>
          </a:p>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  </a:t>
            </a:r>
            <a:r>
              <a:rPr lang="en-US" sz="1200" dirty="0">
                <a:solidFill>
                  <a:srgbClr val="7DD3FC"/>
                </a:solidFill>
                <a:latin typeface="Courier New" pitchFamily="49" charset="0"/>
                <a:ea typeface="Courier New" pitchFamily="49" charset="-122"/>
                <a:cs typeface="Courier New" pitchFamily="49" charset="-120"/>
              </a:rPr>
              <a:t>"confidence"</a:t>
            </a:r>
            <a:r>
              <a:rPr lang="en-US" sz="1200" dirty="0">
                <a:solidFill>
                  <a:srgbClr val="E6EEFC"/>
                </a:solidFill>
                <a:latin typeface="Courier New" pitchFamily="49" charset="0"/>
                <a:ea typeface="Courier New" pitchFamily="49" charset="-122"/>
                <a:cs typeface="Courier New" pitchFamily="49" charset="-120"/>
              </a:rPr>
              <a:t>: 0.9859,</a:t>
            </a:r>
            <a:endParaRPr lang="en-US" sz="1200" dirty="0"/>
          </a:p>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  </a:t>
            </a:r>
            <a:r>
              <a:rPr lang="en-US" sz="1200" dirty="0">
                <a:solidFill>
                  <a:srgbClr val="7DD3FC"/>
                </a:solidFill>
                <a:latin typeface="Courier New" pitchFamily="49" charset="0"/>
                <a:ea typeface="Courier New" pitchFamily="49" charset="-122"/>
                <a:cs typeface="Courier New" pitchFamily="49" charset="-120"/>
              </a:rPr>
              <a:t>"probabilities"</a:t>
            </a:r>
            <a:r>
              <a:rPr lang="en-US" sz="1200" dirty="0">
                <a:solidFill>
                  <a:srgbClr val="E6EEFC"/>
                </a:solidFill>
                <a:latin typeface="Courier New" pitchFamily="49" charset="0"/>
                <a:ea typeface="Courier New" pitchFamily="49" charset="-122"/>
                <a:cs typeface="Courier New" pitchFamily="49" charset="-120"/>
              </a:rPr>
              <a:t>: {</a:t>
            </a:r>
            <a:endParaRPr lang="en-US" sz="1200" dirty="0"/>
          </a:p>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    </a:t>
            </a:r>
            <a:r>
              <a:rPr lang="en-US" sz="1200" dirty="0">
                <a:solidFill>
                  <a:srgbClr val="7DD3FC"/>
                </a:solidFill>
                <a:latin typeface="Courier New" pitchFamily="49" charset="0"/>
                <a:ea typeface="Courier New" pitchFamily="49" charset="-122"/>
                <a:cs typeface="Courier New" pitchFamily="49" charset="-120"/>
              </a:rPr>
              <a:t>"e"</a:t>
            </a:r>
            <a:r>
              <a:rPr lang="en-US" sz="1200" dirty="0">
                <a:solidFill>
                  <a:srgbClr val="E6EEFC"/>
                </a:solidFill>
                <a:latin typeface="Courier New" pitchFamily="49" charset="0"/>
                <a:ea typeface="Courier New" pitchFamily="49" charset="-122"/>
                <a:cs typeface="Courier New" pitchFamily="49" charset="-120"/>
              </a:rPr>
              <a:t>: 0.0141,</a:t>
            </a:r>
            <a:endParaRPr lang="en-US" sz="1200" dirty="0"/>
          </a:p>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    </a:t>
            </a:r>
            <a:r>
              <a:rPr lang="en-US" sz="1200" dirty="0">
                <a:solidFill>
                  <a:srgbClr val="7DD3FC"/>
                </a:solidFill>
                <a:latin typeface="Courier New" pitchFamily="49" charset="0"/>
                <a:ea typeface="Courier New" pitchFamily="49" charset="-122"/>
                <a:cs typeface="Courier New" pitchFamily="49" charset="-120"/>
              </a:rPr>
              <a:t>"p"</a:t>
            </a:r>
            <a:r>
              <a:rPr lang="en-US" sz="1200" dirty="0">
                <a:solidFill>
                  <a:srgbClr val="E6EEFC"/>
                </a:solidFill>
                <a:latin typeface="Courier New" pitchFamily="49" charset="0"/>
                <a:ea typeface="Courier New" pitchFamily="49" charset="-122"/>
                <a:cs typeface="Courier New" pitchFamily="49" charset="-120"/>
              </a:rPr>
              <a:t>: 0.9859</a:t>
            </a:r>
            <a:endParaRPr lang="en-US" sz="1200" dirty="0"/>
          </a:p>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  }</a:t>
            </a:r>
            <a:endParaRPr lang="en-US" sz="1200" dirty="0"/>
          </a:p>
          <a:p>
            <a:pPr algn="l" indent="0" marL="0">
              <a:lnSpc>
                <a:spcPts val="1800"/>
              </a:lnSpc>
              <a:buNone/>
            </a:pPr>
            <a:r>
              <a:rPr lang="en-US" sz="1200" dirty="0">
                <a:solidFill>
                  <a:srgbClr val="E6EEFC"/>
                </a:solidFill>
                <a:latin typeface="Courier New" pitchFamily="49" charset="0"/>
                <a:ea typeface="Courier New" pitchFamily="49" charset="-122"/>
                <a:cs typeface="Courier New" pitchFamily="49" charset="-120"/>
              </a:rPr>
              <a:t>}</a:t>
            </a:r>
            <a:endParaRPr lang="en-US" sz="1200" dirty="0"/>
          </a:p>
        </p:txBody>
      </p:sp>
      <p:sp>
        <p:nvSpPr>
          <p:cNvPr id="14" name="Text 10"/>
          <p:cNvSpPr/>
          <p:nvPr/>
        </p:nvSpPr>
        <p:spPr>
          <a:xfrm>
            <a:off x="6604000" y="4955381"/>
            <a:ext cx="491845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Real response — correct, row 1 is labelled poisonous</a:t>
            </a:r>
            <a:endParaRPr lang="en-US" sz="1200" dirty="0"/>
          </a:p>
        </p:txBody>
      </p:sp>
      <p:sp>
        <p:nvSpPr>
          <p:cNvPr id="15" name="Text 11"/>
          <p:cNvSpPr/>
          <p:nvPr/>
        </p:nvSpPr>
        <p:spPr>
          <a:xfrm>
            <a:off x="812800" y="6238280"/>
            <a:ext cx="5580459"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58C"/>
                </a:solidFill>
                <a:latin typeface="Arial" pitchFamily="34" charset="0"/>
                <a:ea typeface="Arial" pitchFamily="34" charset="-122"/>
                <a:cs typeface="Arial" pitchFamily="34" charset="-120"/>
              </a:rPr>
              <a:t>Mushroom Prediction · Train &amp; serve · captured from the running app</a:t>
            </a:r>
            <a:endParaRPr lang="en-US" sz="1200" dirty="0"/>
          </a:p>
        </p:txBody>
      </p:sp>
      <p:sp>
        <p:nvSpPr>
          <p:cNvPr id="16" name="Text 12"/>
          <p:cNvSpPr/>
          <p:nvPr/>
        </p:nvSpPr>
        <p:spPr>
          <a:xfrm>
            <a:off x="10830005" y="6238280"/>
            <a:ext cx="549196"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2658C"/>
                </a:solidFill>
                <a:latin typeface="Arial" pitchFamily="34" charset="0"/>
                <a:ea typeface="Arial" pitchFamily="34" charset="-122"/>
                <a:cs typeface="Arial" pitchFamily="34" charset="-120"/>
              </a:rPr>
              <a:t>09 / 11</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7FE"/>
        </a:solidFill>
      </p:bgPr>
    </p:bg>
    <p:spTree>
      <p:nvGrpSpPr>
        <p:cNvPr id="1" name=""/>
        <p:cNvGrpSpPr/>
        <p:nvPr/>
      </p:nvGrpSpPr>
      <p:grpSpPr>
        <a:xfrm>
          <a:off x="0" y="0"/>
          <a:ext cx="0" cy="0"/>
          <a:chOff x="0" y="0"/>
          <a:chExt cx="0" cy="0"/>
        </a:xfrm>
      </p:grpSpPr>
      <p:pic>
        <p:nvPicPr>
          <p:cNvPr id="2" name="Image 0" descr="Decorative shapes">    </p:cNvPr>
          <p:cNvPicPr>
            <a:picLocks noChangeAspect="1"/>
          </p:cNvPicPr>
          <p:nvPr/>
        </p:nvPicPr>
        <p:blipFill>
          <a:blip r:embed="rId1"/>
          <a:srcRect l="0" r="0" t="0" b="0"/>
          <a:stretch/>
        </p:blipFill>
        <p:spPr>
          <a:xfrm>
            <a:off x="10464800" y="152400"/>
            <a:ext cx="1524000" cy="533400"/>
          </a:xfrm>
          <a:prstGeom prst="rect">
            <a:avLst/>
          </a:prstGeom>
        </p:spPr>
      </p:pic>
      <p:pic>
        <p:nvPicPr>
          <p:cNvPr id="3" name="Image 1" descr="Decorative shapes">    </p:cNvPr>
          <p:cNvPicPr>
            <a:picLocks noChangeAspect="1"/>
          </p:cNvPicPr>
          <p:nvPr/>
        </p:nvPicPr>
        <p:blipFill>
          <a:blip r:embed="rId2"/>
          <a:srcRect l="0" r="0" t="0" b="0"/>
          <a:stretch/>
        </p:blipFill>
        <p:spPr>
          <a:xfrm>
            <a:off x="304800" y="3022600"/>
            <a:ext cx="177800" cy="812800"/>
          </a:xfrm>
          <a:prstGeom prst="rect">
            <a:avLst/>
          </a:prstGeom>
        </p:spPr>
      </p:pic>
      <p:sp>
        <p:nvSpPr>
          <p:cNvPr id="4"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2563EB"/>
                </a:solidFill>
                <a:latin typeface="Arial" pitchFamily="34" charset="0"/>
                <a:ea typeface="Arial" pitchFamily="34" charset="-122"/>
                <a:cs typeface="Arial" pitchFamily="34" charset="-120"/>
              </a:rPr>
              <a:t>WRAP-UP</a:t>
            </a:r>
            <a:endParaRPr lang="en-US" sz="1200" dirty="0"/>
          </a:p>
        </p:txBody>
      </p:sp>
      <p:sp>
        <p:nvSpPr>
          <p:cNvPr id="5" name="Text 1"/>
          <p:cNvSpPr/>
          <p:nvPr>
            <p:ph type="title"/>
          </p:nvPr>
        </p:nvSpPr>
        <p:spPr>
          <a:xfrm>
            <a:off x="812800" y="1076920"/>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0B1B3D"/>
                </a:solidFill>
                <a:latin typeface="Arial" pitchFamily="34" charset="0"/>
                <a:ea typeface="Arial" pitchFamily="34" charset="-122"/>
                <a:cs typeface="Arial" pitchFamily="34" charset="-120"/>
              </a:rPr>
              <a:t>Run it in three commands</a:t>
            </a:r>
            <a:endParaRPr lang="en-US" sz="3200" dirty="0"/>
          </a:p>
        </p:txBody>
      </p:sp>
      <p:sp>
        <p:nvSpPr>
          <p:cNvPr id="6" name="Text 2"/>
          <p:cNvSpPr/>
          <p:nvPr/>
        </p:nvSpPr>
        <p:spPr>
          <a:xfrm>
            <a:off x="812800" y="1997540"/>
            <a:ext cx="457200" cy="457200"/>
          </a:xfrm>
          <a:prstGeom prst="roundRect">
            <a:avLst>
              <a:gd name="adj" fmla="val 50000"/>
            </a:avLst>
          </a:prstGeom>
          <a:solidFill>
            <a:srgbClr val="2563EB"/>
          </a:solidFill>
          <a:ln/>
        </p:spPr>
        <p:txBody>
          <a:bodyPr wrap="square" lIns="0" tIns="0" rIns="0" bIns="0" rtlCol="0" anchor="ctr">
            <a:normAutofit/>
          </a:bodyPr>
          <a:lstStyle/>
          <a:p>
            <a:pPr algn="ctr" indent="0" marL="0">
              <a:lnSpc>
                <a:spcPts val="2240"/>
              </a:lnSpc>
              <a:buNone/>
            </a:pPr>
            <a:r>
              <a:rPr lang="en-US" sz="1600" b="1" dirty="0">
                <a:solidFill>
                  <a:srgbClr val="F3F7FE"/>
                </a:solidFill>
                <a:latin typeface="Arial" pitchFamily="34" charset="0"/>
                <a:ea typeface="Arial" pitchFamily="34" charset="-122"/>
                <a:cs typeface="Arial" pitchFamily="34" charset="-120"/>
              </a:rPr>
              <a:t>1</a:t>
            </a:r>
            <a:endParaRPr lang="en-US" sz="1600" dirty="0"/>
          </a:p>
        </p:txBody>
      </p:sp>
      <p:sp>
        <p:nvSpPr>
          <p:cNvPr id="7" name="Text 3"/>
          <p:cNvSpPr/>
          <p:nvPr/>
        </p:nvSpPr>
        <p:spPr>
          <a:xfrm>
            <a:off x="1473200" y="1777938"/>
            <a:ext cx="17018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D"/>
                </a:solidFill>
                <a:latin typeface="Arial" pitchFamily="34" charset="0"/>
                <a:ea typeface="Arial" pitchFamily="34" charset="-122"/>
                <a:cs typeface="Arial" pitchFamily="34" charset="-120"/>
              </a:rPr>
              <a:t>Train</a:t>
            </a:r>
            <a:endParaRPr lang="en-US" sz="1600" dirty="0"/>
          </a:p>
        </p:txBody>
      </p:sp>
      <p:sp>
        <p:nvSpPr>
          <p:cNvPr id="8" name="Text 4"/>
          <p:cNvSpPr/>
          <p:nvPr/>
        </p:nvSpPr>
        <p:spPr>
          <a:xfrm>
            <a:off x="1473200" y="2034449"/>
            <a:ext cx="1701800"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writes models/mushroom.joblib</a:t>
            </a:r>
            <a:endParaRPr lang="en-US" sz="1200" dirty="0"/>
          </a:p>
        </p:txBody>
      </p:sp>
      <p:sp>
        <p:nvSpPr>
          <p:cNvPr id="9" name="Text 5"/>
          <p:cNvSpPr/>
          <p:nvPr/>
        </p:nvSpPr>
        <p:spPr>
          <a:xfrm>
            <a:off x="3327400" y="1992511"/>
            <a:ext cx="8051800" cy="467320"/>
          </a:xfrm>
          <a:prstGeom prst="roundRect">
            <a:avLst>
              <a:gd name="adj" fmla="val 19023"/>
            </a:avLst>
          </a:prstGeom>
          <a:solidFill>
            <a:srgbClr val="0B1B3D"/>
          </a:solidFill>
          <a:ln/>
        </p:spPr>
        <p:txBody>
          <a:bodyPr wrap="square" lIns="151762" tIns="100962" rIns="0" bIns="75562" rtlCol="0" anchor="t">
            <a:normAutofit/>
          </a:bodyPr>
          <a:lstStyle/>
          <a:p>
            <a:pPr algn="l" indent="0" marL="0">
              <a:lnSpc>
                <a:spcPts val="1680"/>
              </a:lnSpc>
              <a:buNone/>
            </a:pPr>
            <a:r>
              <a:rPr lang="en-US" sz="1200" dirty="0">
                <a:solidFill>
                  <a:srgbClr val="7DD3FC"/>
                </a:solidFill>
                <a:latin typeface="Courier New" pitchFamily="49" charset="0"/>
                <a:ea typeface="Courier New" pitchFamily="49" charset="-122"/>
                <a:cs typeface="Courier New" pitchFamily="49" charset="-120"/>
              </a:rPr>
              <a:t>$</a:t>
            </a:r>
            <a:r>
              <a:rPr lang="en-US" sz="1200" dirty="0">
                <a:solidFill>
                  <a:srgbClr val="E6EEFC"/>
                </a:solidFill>
                <a:latin typeface="Courier New" pitchFamily="49" charset="0"/>
                <a:ea typeface="Courier New" pitchFamily="49" charset="-122"/>
                <a:cs typeface="Courier New" pitchFamily="49" charset="-120"/>
              </a:rPr>
              <a:t> python train_mushroom.py</a:t>
            </a:r>
            <a:endParaRPr lang="en-US" sz="1200" dirty="0"/>
          </a:p>
        </p:txBody>
      </p:sp>
      <p:sp>
        <p:nvSpPr>
          <p:cNvPr id="10" name="Text 6"/>
          <p:cNvSpPr/>
          <p:nvPr/>
        </p:nvSpPr>
        <p:spPr>
          <a:xfrm>
            <a:off x="812800" y="2939790"/>
            <a:ext cx="457200" cy="457200"/>
          </a:xfrm>
          <a:prstGeom prst="roundRect">
            <a:avLst>
              <a:gd name="adj" fmla="val 50000"/>
            </a:avLst>
          </a:prstGeom>
          <a:solidFill>
            <a:srgbClr val="2563EB"/>
          </a:solidFill>
          <a:ln/>
        </p:spPr>
        <p:txBody>
          <a:bodyPr wrap="square" lIns="0" tIns="0" rIns="0" bIns="0" rtlCol="0" anchor="ctr">
            <a:normAutofit/>
          </a:bodyPr>
          <a:lstStyle/>
          <a:p>
            <a:pPr algn="ctr" indent="0" marL="0">
              <a:lnSpc>
                <a:spcPts val="2240"/>
              </a:lnSpc>
              <a:buNone/>
            </a:pPr>
            <a:r>
              <a:rPr lang="en-US" sz="1600" b="1" dirty="0">
                <a:solidFill>
                  <a:srgbClr val="F3F7FE"/>
                </a:solidFill>
                <a:latin typeface="Arial" pitchFamily="34" charset="0"/>
                <a:ea typeface="Arial" pitchFamily="34" charset="-122"/>
                <a:cs typeface="Arial" pitchFamily="34" charset="-120"/>
              </a:rPr>
              <a:t>2</a:t>
            </a:r>
            <a:endParaRPr lang="en-US" sz="1600" dirty="0"/>
          </a:p>
        </p:txBody>
      </p:sp>
      <p:sp>
        <p:nvSpPr>
          <p:cNvPr id="11" name="Text 7"/>
          <p:cNvSpPr/>
          <p:nvPr/>
        </p:nvSpPr>
        <p:spPr>
          <a:xfrm>
            <a:off x="1473200" y="2826810"/>
            <a:ext cx="17018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D"/>
                </a:solidFill>
                <a:latin typeface="Arial" pitchFamily="34" charset="0"/>
                <a:ea typeface="Arial" pitchFamily="34" charset="-122"/>
                <a:cs typeface="Arial" pitchFamily="34" charset="-120"/>
              </a:rPr>
              <a:t>Serve</a:t>
            </a:r>
            <a:endParaRPr lang="en-US" sz="1600" dirty="0"/>
          </a:p>
        </p:txBody>
      </p:sp>
      <p:sp>
        <p:nvSpPr>
          <p:cNvPr id="12" name="Text 8"/>
          <p:cNvSpPr/>
          <p:nvPr/>
        </p:nvSpPr>
        <p:spPr>
          <a:xfrm>
            <a:off x="1473200" y="3083322"/>
            <a:ext cx="170180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ASGI server, auto-reload</a:t>
            </a:r>
            <a:endParaRPr lang="en-US" sz="1200" dirty="0"/>
          </a:p>
        </p:txBody>
      </p:sp>
      <p:sp>
        <p:nvSpPr>
          <p:cNvPr id="13" name="Text 9"/>
          <p:cNvSpPr/>
          <p:nvPr/>
        </p:nvSpPr>
        <p:spPr>
          <a:xfrm>
            <a:off x="3327400" y="2934692"/>
            <a:ext cx="8051800" cy="467320"/>
          </a:xfrm>
          <a:prstGeom prst="roundRect">
            <a:avLst>
              <a:gd name="adj" fmla="val 19023"/>
            </a:avLst>
          </a:prstGeom>
          <a:solidFill>
            <a:srgbClr val="0B1B3D"/>
          </a:solidFill>
          <a:ln/>
        </p:spPr>
        <p:txBody>
          <a:bodyPr wrap="square" lIns="151762" tIns="100962" rIns="0" bIns="75562" rtlCol="0" anchor="t">
            <a:normAutofit/>
          </a:bodyPr>
          <a:lstStyle/>
          <a:p>
            <a:pPr algn="l" indent="0" marL="0">
              <a:lnSpc>
                <a:spcPts val="1680"/>
              </a:lnSpc>
              <a:buNone/>
            </a:pPr>
            <a:r>
              <a:rPr lang="en-US" sz="1200" dirty="0">
                <a:solidFill>
                  <a:srgbClr val="7DD3FC"/>
                </a:solidFill>
                <a:latin typeface="Courier New" pitchFamily="49" charset="0"/>
                <a:ea typeface="Courier New" pitchFamily="49" charset="-122"/>
                <a:cs typeface="Courier New" pitchFamily="49" charset="-120"/>
              </a:rPr>
              <a:t>$</a:t>
            </a:r>
            <a:r>
              <a:rPr lang="en-US" sz="1200" dirty="0">
                <a:solidFill>
                  <a:srgbClr val="E6EEFC"/>
                </a:solidFill>
                <a:latin typeface="Courier New" pitchFamily="49" charset="0"/>
                <a:ea typeface="Courier New" pitchFamily="49" charset="-122"/>
                <a:cs typeface="Courier New" pitchFamily="49" charset="-120"/>
              </a:rPr>
              <a:t> uvicorn app.main:app --reload </a:t>
            </a:r>
            <a:r>
              <a:rPr lang="en-US" sz="1200" dirty="0">
                <a:solidFill>
                  <a:srgbClr val="93B4F0"/>
                </a:solidFill>
                <a:latin typeface="Courier New" pitchFamily="49" charset="0"/>
                <a:ea typeface="Courier New" pitchFamily="49" charset="-122"/>
                <a:cs typeface="Courier New" pitchFamily="49" charset="-120"/>
              </a:rPr>
              <a:t># or: fastapi dev app/main.py</a:t>
            </a:r>
            <a:endParaRPr lang="en-US" sz="1200" dirty="0"/>
          </a:p>
        </p:txBody>
      </p:sp>
      <p:sp>
        <p:nvSpPr>
          <p:cNvPr id="14" name="Text 10"/>
          <p:cNvSpPr/>
          <p:nvPr/>
        </p:nvSpPr>
        <p:spPr>
          <a:xfrm>
            <a:off x="812800" y="3880712"/>
            <a:ext cx="457200" cy="457200"/>
          </a:xfrm>
          <a:prstGeom prst="roundRect">
            <a:avLst>
              <a:gd name="adj" fmla="val 50000"/>
            </a:avLst>
          </a:prstGeom>
          <a:solidFill>
            <a:srgbClr val="2563EB"/>
          </a:solidFill>
          <a:ln/>
        </p:spPr>
        <p:txBody>
          <a:bodyPr wrap="square" lIns="0" tIns="0" rIns="0" bIns="0" rtlCol="0" anchor="ctr">
            <a:normAutofit/>
          </a:bodyPr>
          <a:lstStyle/>
          <a:p>
            <a:pPr algn="ctr" indent="0" marL="0">
              <a:lnSpc>
                <a:spcPts val="2240"/>
              </a:lnSpc>
              <a:buNone/>
            </a:pPr>
            <a:r>
              <a:rPr lang="en-US" sz="1600" b="1" dirty="0">
                <a:solidFill>
                  <a:srgbClr val="F3F7FE"/>
                </a:solidFill>
                <a:latin typeface="Arial" pitchFamily="34" charset="0"/>
                <a:ea typeface="Arial" pitchFamily="34" charset="-122"/>
                <a:cs typeface="Arial" pitchFamily="34" charset="-120"/>
              </a:rPr>
              <a:t>3</a:t>
            </a:r>
            <a:endParaRPr lang="en-US" sz="1600" dirty="0"/>
          </a:p>
        </p:txBody>
      </p:sp>
      <p:sp>
        <p:nvSpPr>
          <p:cNvPr id="15" name="Text 11"/>
          <p:cNvSpPr/>
          <p:nvPr/>
        </p:nvSpPr>
        <p:spPr>
          <a:xfrm>
            <a:off x="1473200" y="3874430"/>
            <a:ext cx="1701800"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B1B3D"/>
                </a:solidFill>
                <a:latin typeface="Arial" pitchFamily="34" charset="0"/>
                <a:ea typeface="Arial" pitchFamily="34" charset="-122"/>
                <a:cs typeface="Arial" pitchFamily="34" charset="-120"/>
              </a:rPr>
              <a:t>Try</a:t>
            </a:r>
            <a:endParaRPr lang="en-US" sz="1600" dirty="0"/>
          </a:p>
        </p:txBody>
      </p:sp>
      <p:sp>
        <p:nvSpPr>
          <p:cNvPr id="16" name="Text 12"/>
          <p:cNvSpPr/>
          <p:nvPr/>
        </p:nvSpPr>
        <p:spPr>
          <a:xfrm>
            <a:off x="1473200" y="4130942"/>
            <a:ext cx="17018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Swagger UI or curl</a:t>
            </a:r>
            <a:endParaRPr lang="en-US" sz="1200" dirty="0"/>
          </a:p>
        </p:txBody>
      </p:sp>
      <p:sp>
        <p:nvSpPr>
          <p:cNvPr id="17" name="Text 13"/>
          <p:cNvSpPr/>
          <p:nvPr/>
        </p:nvSpPr>
        <p:spPr>
          <a:xfrm>
            <a:off x="3327400" y="3662362"/>
            <a:ext cx="8051800" cy="893961"/>
          </a:xfrm>
          <a:prstGeom prst="roundRect">
            <a:avLst>
              <a:gd name="adj" fmla="val 9945"/>
            </a:avLst>
          </a:prstGeom>
          <a:solidFill>
            <a:srgbClr val="0B1B3D"/>
          </a:solidFill>
          <a:ln/>
        </p:spPr>
        <p:txBody>
          <a:bodyPr wrap="square" lIns="151762" tIns="100962" rIns="0" bIns="75562" rtlCol="0" anchor="t">
            <a:normAutofit/>
          </a:bodyPr>
          <a:lstStyle/>
          <a:p>
            <a:pPr algn="l" indent="0" marL="0">
              <a:lnSpc>
                <a:spcPts val="1680"/>
              </a:lnSpc>
              <a:buNone/>
            </a:pPr>
            <a:r>
              <a:rPr lang="en-US" sz="1200" dirty="0">
                <a:solidFill>
                  <a:srgbClr val="93B4F0"/>
                </a:solidFill>
                <a:latin typeface="Courier New" pitchFamily="49" charset="0"/>
                <a:ea typeface="Courier New" pitchFamily="49" charset="-122"/>
                <a:cs typeface="Courier New" pitchFamily="49" charset="-120"/>
              </a:rPr>
              <a:t># open http://127.0.0.1:8000/docs, or:</a:t>
            </a:r>
            <a:endParaRPr lang="en-US" sz="1200" dirty="0"/>
          </a:p>
          <a:p>
            <a:pPr algn="l" indent="0" marL="0">
              <a:lnSpc>
                <a:spcPts val="1680"/>
              </a:lnSpc>
              <a:buNone/>
            </a:pPr>
            <a:r>
              <a:rPr lang="en-US" sz="1200" dirty="0">
                <a:solidFill>
                  <a:srgbClr val="7DD3FC"/>
                </a:solidFill>
                <a:latin typeface="Courier New" pitchFamily="49" charset="0"/>
                <a:ea typeface="Courier New" pitchFamily="49" charset="-122"/>
                <a:cs typeface="Courier New" pitchFamily="49" charset="-120"/>
              </a:rPr>
              <a:t>$</a:t>
            </a:r>
            <a:r>
              <a:rPr lang="en-US" sz="1200" dirty="0">
                <a:solidFill>
                  <a:srgbClr val="E6EEFC"/>
                </a:solidFill>
                <a:latin typeface="Courier New" pitchFamily="49" charset="0"/>
                <a:ea typeface="Courier New" pitchFamily="49" charset="-122"/>
                <a:cs typeface="Courier New" pitchFamily="49" charset="-120"/>
              </a:rPr>
              <a:t> curl -X POST http://127.0.0.1:8000/mushroom/predict \</a:t>
            </a:r>
            <a:endParaRPr lang="en-US" sz="1200" dirty="0"/>
          </a:p>
          <a:p>
            <a:pPr algn="l" indent="0" marL="0">
              <a:lnSpc>
                <a:spcPts val="1680"/>
              </a:lnSpc>
              <a:buNone/>
            </a:pPr>
            <a:r>
              <a:rPr lang="en-US" sz="1200" dirty="0">
                <a:solidFill>
                  <a:srgbClr val="E6EEFC"/>
                </a:solidFill>
                <a:latin typeface="Courier New" pitchFamily="49" charset="0"/>
                <a:ea typeface="Courier New" pitchFamily="49" charset="-122"/>
                <a:cs typeface="Courier New" pitchFamily="49" charset="-120"/>
              </a:rPr>
              <a:t>    -H "Content-Type: application/json" -d @row.json</a:t>
            </a:r>
            <a:endParaRPr lang="en-US" sz="1200" dirty="0"/>
          </a:p>
        </p:txBody>
      </p:sp>
      <p:pic>
        <p:nvPicPr>
          <p:cNvPr id="18" name="Image 2" descr="Tool">    </p:cNvPr>
          <p:cNvPicPr>
            <a:picLocks noChangeAspect="1"/>
          </p:cNvPicPr>
          <p:nvPr/>
        </p:nvPicPr>
        <p:blipFill>
          <a:blip r:embed="rId3"/>
          <a:srcRect l="0" r="0" t="0" b="0"/>
          <a:stretch/>
        </p:blipFill>
        <p:spPr>
          <a:xfrm>
            <a:off x="812800" y="4810323"/>
            <a:ext cx="254000" cy="254000"/>
          </a:xfrm>
          <a:prstGeom prst="rect">
            <a:avLst/>
          </a:prstGeom>
        </p:spPr>
      </p:pic>
      <p:sp>
        <p:nvSpPr>
          <p:cNvPr id="19" name="Text 14"/>
          <p:cNvSpPr/>
          <p:nvPr/>
        </p:nvSpPr>
        <p:spPr>
          <a:xfrm>
            <a:off x="1168400" y="4830632"/>
            <a:ext cx="430966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57A"/>
                </a:solidFill>
                <a:latin typeface="Arial" pitchFamily="34" charset="0"/>
                <a:ea typeface="Arial" pitchFamily="34" charset="-122"/>
                <a:cs typeface="Arial" pitchFamily="34" charset="-120"/>
              </a:rPr>
              <a:t>Needs: fastapi · uvicorn · scikit-learn · pandas · joblib</a:t>
            </a:r>
            <a:endParaRPr lang="en-US" sz="1200" dirty="0"/>
          </a:p>
        </p:txBody>
      </p:sp>
      <p:sp>
        <p:nvSpPr>
          <p:cNvPr id="20" name="Text 15"/>
          <p:cNvSpPr/>
          <p:nvPr/>
        </p:nvSpPr>
        <p:spPr>
          <a:xfrm>
            <a:off x="812800" y="6238280"/>
            <a:ext cx="29678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2658C"/>
                </a:solidFill>
                <a:latin typeface="Arial" pitchFamily="34" charset="0"/>
                <a:ea typeface="Arial" pitchFamily="34" charset="-122"/>
                <a:cs typeface="Arial" pitchFamily="34" charset="-120"/>
              </a:rPr>
              <a:t>Mushroom Prediction · Train &amp; serve</a:t>
            </a:r>
            <a:endParaRPr lang="en-US" sz="1200" dirty="0"/>
          </a:p>
        </p:txBody>
      </p:sp>
      <p:sp>
        <p:nvSpPr>
          <p:cNvPr id="21" name="Text 16"/>
          <p:cNvSpPr/>
          <p:nvPr/>
        </p:nvSpPr>
        <p:spPr>
          <a:xfrm>
            <a:off x="10830005" y="6238280"/>
            <a:ext cx="549196" cy="238720"/>
          </a:xfrm>
          <a:prstGeom prst="rect">
            <a:avLst/>
          </a:prstGeom>
          <a:noFill/>
          <a:ln/>
        </p:spPr>
        <p:txBody>
          <a:bodyPr wrap="square" lIns="0" tIns="0" rIns="0" bIns="0" rtlCol="0" anchor="t">
            <a:normAutofit/>
          </a:bodyPr>
          <a:lstStyle/>
          <a:p>
            <a:pPr algn="r" indent="0" marL="0">
              <a:lnSpc>
                <a:spcPts val="1680"/>
              </a:lnSpc>
              <a:buNone/>
            </a:pPr>
            <a:r>
              <a:rPr lang="en-US" sz="1200" b="1" dirty="0">
                <a:solidFill>
                  <a:srgbClr val="52658C"/>
                </a:solidFill>
                <a:latin typeface="Arial" pitchFamily="34" charset="0"/>
                <a:ea typeface="Arial" pitchFamily="34" charset="-122"/>
                <a:cs typeface="Arial" pitchFamily="34" charset="-120"/>
              </a:rPr>
              <a:t>10 / 11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A3F"/>
        </a:solidFill>
      </p:bgPr>
    </p:bg>
    <p:spTree>
      <p:nvGrpSpPr>
        <p:cNvPr id="1" name=""/>
        <p:cNvGrpSpPr/>
        <p:nvPr/>
      </p:nvGrpSpPr>
      <p:grpSpPr>
        <a:xfrm>
          <a:off x="0" y="0"/>
          <a:ext cx="0" cy="0"/>
          <a:chOff x="0" y="0"/>
          <a:chExt cx="0" cy="0"/>
        </a:xfrm>
      </p:grpSpPr>
      <p:pic>
        <p:nvPicPr>
          <p:cNvPr id="2" name="Image 0" descr="Decorative geometric shapes">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159352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200" kern="0" dirty="0">
                <a:solidFill>
                  <a:srgbClr val="7DD3FC"/>
                </a:solidFill>
                <a:latin typeface="Arial" pitchFamily="34" charset="0"/>
                <a:ea typeface="Arial" pitchFamily="34" charset="-122"/>
                <a:cs typeface="Arial" pitchFamily="34" charset="-120"/>
              </a:rPr>
              <a:t>TAKEAWAYS</a:t>
            </a:r>
            <a:endParaRPr lang="en-US" sz="1200" dirty="0"/>
          </a:p>
        </p:txBody>
      </p:sp>
      <p:sp>
        <p:nvSpPr>
          <p:cNvPr id="4" name="Text 1"/>
          <p:cNvSpPr/>
          <p:nvPr>
            <p:ph type="title"/>
          </p:nvPr>
        </p:nvSpPr>
        <p:spPr>
          <a:xfrm>
            <a:off x="812800" y="1857642"/>
            <a:ext cx="10883392" cy="472414"/>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3F7FE"/>
                </a:solidFill>
                <a:latin typeface="Arial" pitchFamily="34" charset="0"/>
                <a:ea typeface="Arial" pitchFamily="34" charset="-122"/>
                <a:cs typeface="Arial" pitchFamily="34" charset="-120"/>
              </a:rPr>
              <a:t>From CSV to a live prediction API</a:t>
            </a:r>
            <a:endParaRPr lang="en-US" sz="3200" dirty="0"/>
          </a:p>
        </p:txBody>
      </p:sp>
      <p:sp>
        <p:nvSpPr>
          <p:cNvPr id="5" name="Shape 2"/>
          <p:cNvSpPr/>
          <p:nvPr/>
        </p:nvSpPr>
        <p:spPr>
          <a:xfrm>
            <a:off x="815975" y="2612628"/>
            <a:ext cx="3380317" cy="1952691"/>
          </a:xfrm>
          <a:prstGeom prst="roundRect">
            <a:avLst>
              <a:gd name="adj" fmla="val 7642"/>
            </a:avLst>
          </a:prstGeom>
          <a:solidFill>
            <a:srgbClr val="12285C"/>
          </a:solidFill>
          <a:ln w="6350">
            <a:solidFill>
              <a:srgbClr val="1E3A8A"/>
            </a:solidFill>
            <a:prstDash val="solid"/>
          </a:ln>
        </p:spPr>
      </p:sp>
      <p:pic>
        <p:nvPicPr>
          <p:cNvPr id="6" name="Image 1" descr="Database">    </p:cNvPr>
          <p:cNvPicPr>
            <a:picLocks noChangeAspect="1"/>
          </p:cNvPicPr>
          <p:nvPr/>
        </p:nvPicPr>
        <p:blipFill>
          <a:blip r:embed="rId2"/>
          <a:srcRect l="0" r="0" t="0" b="0"/>
          <a:stretch/>
        </p:blipFill>
        <p:spPr>
          <a:xfrm>
            <a:off x="1071033" y="2867689"/>
            <a:ext cx="355600" cy="355600"/>
          </a:xfrm>
          <a:prstGeom prst="rect">
            <a:avLst/>
          </a:prstGeom>
        </p:spPr>
      </p:pic>
      <p:sp>
        <p:nvSpPr>
          <p:cNvPr id="7" name="Text 3"/>
          <p:cNvSpPr/>
          <p:nvPr/>
        </p:nvSpPr>
        <p:spPr>
          <a:xfrm>
            <a:off x="1071033" y="3324889"/>
            <a:ext cx="29563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7FE"/>
                </a:solidFill>
                <a:latin typeface="Arial" pitchFamily="34" charset="0"/>
                <a:ea typeface="Arial" pitchFamily="34" charset="-122"/>
                <a:cs typeface="Arial" pitchFamily="34" charset="-120"/>
              </a:rPr>
              <a:t>Data</a:t>
            </a:r>
            <a:endParaRPr lang="en-US" sz="1600" dirty="0"/>
          </a:p>
        </p:txBody>
      </p:sp>
      <p:sp>
        <p:nvSpPr>
          <p:cNvPr id="8" name="Text 4"/>
          <p:cNvSpPr/>
          <p:nvPr/>
        </p:nvSpPr>
        <p:spPr>
          <a:xfrm>
            <a:off x="1071033" y="3670300"/>
            <a:ext cx="295630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3F2"/>
                </a:solidFill>
                <a:latin typeface="Arial" pitchFamily="34" charset="0"/>
                <a:ea typeface="Arial" pitchFamily="34" charset="-122"/>
                <a:cs typeface="Arial" pitchFamily="34" charset="-120"/>
              </a:rPr>
              <a:t>Clean, balanced and fully categorical — odor alone nearly decides the class.</a:t>
            </a:r>
            <a:endParaRPr lang="en-US" sz="1200" dirty="0"/>
          </a:p>
        </p:txBody>
      </p:sp>
      <p:sp>
        <p:nvSpPr>
          <p:cNvPr id="9" name="Shape 5"/>
          <p:cNvSpPr/>
          <p:nvPr/>
        </p:nvSpPr>
        <p:spPr>
          <a:xfrm>
            <a:off x="4405842" y="2612628"/>
            <a:ext cx="3380317" cy="1952691"/>
          </a:xfrm>
          <a:prstGeom prst="roundRect">
            <a:avLst>
              <a:gd name="adj" fmla="val 7642"/>
            </a:avLst>
          </a:prstGeom>
          <a:solidFill>
            <a:srgbClr val="12285C"/>
          </a:solidFill>
          <a:ln w="6350">
            <a:solidFill>
              <a:srgbClr val="1E3A8A"/>
            </a:solidFill>
            <a:prstDash val="solid"/>
          </a:ln>
        </p:spPr>
      </p:sp>
      <p:pic>
        <p:nvPicPr>
          <p:cNvPr id="10" name="Image 2" descr="Lightbulb">    </p:cNvPr>
          <p:cNvPicPr>
            <a:picLocks noChangeAspect="1"/>
          </p:cNvPicPr>
          <p:nvPr/>
        </p:nvPicPr>
        <p:blipFill>
          <a:blip r:embed="rId3"/>
          <a:srcRect l="0" r="0" t="0" b="0"/>
          <a:stretch/>
        </p:blipFill>
        <p:spPr>
          <a:xfrm>
            <a:off x="4660900" y="2867689"/>
            <a:ext cx="355600" cy="355600"/>
          </a:xfrm>
          <a:prstGeom prst="rect">
            <a:avLst/>
          </a:prstGeom>
        </p:spPr>
      </p:pic>
      <p:sp>
        <p:nvSpPr>
          <p:cNvPr id="11" name="Text 6"/>
          <p:cNvSpPr/>
          <p:nvPr/>
        </p:nvSpPr>
        <p:spPr>
          <a:xfrm>
            <a:off x="4660900" y="3324889"/>
            <a:ext cx="29563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7FE"/>
                </a:solidFill>
                <a:latin typeface="Arial" pitchFamily="34" charset="0"/>
                <a:ea typeface="Arial" pitchFamily="34" charset="-122"/>
                <a:cs typeface="Arial" pitchFamily="34" charset="-120"/>
              </a:rPr>
              <a:t>Model</a:t>
            </a:r>
            <a:endParaRPr lang="en-US" sz="1600" dirty="0"/>
          </a:p>
        </p:txBody>
      </p:sp>
      <p:sp>
        <p:nvSpPr>
          <p:cNvPr id="12" name="Text 7"/>
          <p:cNvSpPr/>
          <p:nvPr/>
        </p:nvSpPr>
        <p:spPr>
          <a:xfrm>
            <a:off x="4660900" y="3670300"/>
            <a:ext cx="2956306"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3D3F2"/>
                </a:solidFill>
                <a:latin typeface="Arial" pitchFamily="34" charset="0"/>
                <a:ea typeface="Arial" pitchFamily="34" charset="-122"/>
                <a:cs typeface="Arial" pitchFamily="34" charset="-120"/>
              </a:rPr>
              <a:t>One-hot + logistic regression: 99.94% accuracy and ROC AUC 1.000 on held-out data.</a:t>
            </a:r>
            <a:endParaRPr lang="en-US" sz="1200" dirty="0"/>
          </a:p>
        </p:txBody>
      </p:sp>
      <p:sp>
        <p:nvSpPr>
          <p:cNvPr id="13" name="Shape 8"/>
          <p:cNvSpPr/>
          <p:nvPr/>
        </p:nvSpPr>
        <p:spPr>
          <a:xfrm>
            <a:off x="7995709" y="2612628"/>
            <a:ext cx="3380317" cy="1952691"/>
          </a:xfrm>
          <a:prstGeom prst="roundRect">
            <a:avLst>
              <a:gd name="adj" fmla="val 7642"/>
            </a:avLst>
          </a:prstGeom>
          <a:solidFill>
            <a:srgbClr val="2563EB"/>
          </a:solidFill>
          <a:ln w="6350">
            <a:solidFill>
              <a:srgbClr val="2563EB"/>
            </a:solidFill>
            <a:prstDash val="solid"/>
          </a:ln>
        </p:spPr>
      </p:sp>
      <p:pic>
        <p:nvPicPr>
          <p:cNvPr id="14" name="Image 3" descr="Verified">    </p:cNvPr>
          <p:cNvPicPr>
            <a:picLocks noChangeAspect="1"/>
          </p:cNvPicPr>
          <p:nvPr/>
        </p:nvPicPr>
        <p:blipFill>
          <a:blip r:embed="rId4"/>
          <a:srcRect l="0" r="0" t="0" b="0"/>
          <a:stretch/>
        </p:blipFill>
        <p:spPr>
          <a:xfrm>
            <a:off x="8250767" y="2867689"/>
            <a:ext cx="355600" cy="355600"/>
          </a:xfrm>
          <a:prstGeom prst="rect">
            <a:avLst/>
          </a:prstGeom>
        </p:spPr>
      </p:pic>
      <p:sp>
        <p:nvSpPr>
          <p:cNvPr id="15" name="Text 9"/>
          <p:cNvSpPr/>
          <p:nvPr/>
        </p:nvSpPr>
        <p:spPr>
          <a:xfrm>
            <a:off x="8250767" y="3324889"/>
            <a:ext cx="2956306" cy="269214"/>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7FE"/>
                </a:solidFill>
                <a:latin typeface="Arial" pitchFamily="34" charset="0"/>
                <a:ea typeface="Arial" pitchFamily="34" charset="-122"/>
                <a:cs typeface="Arial" pitchFamily="34" charset="-120"/>
              </a:rPr>
              <a:t>Service</a:t>
            </a:r>
            <a:endParaRPr lang="en-US" sz="1600" dirty="0"/>
          </a:p>
        </p:txBody>
      </p:sp>
      <p:sp>
        <p:nvSpPr>
          <p:cNvPr id="16" name="Text 10"/>
          <p:cNvSpPr/>
          <p:nvPr/>
        </p:nvSpPr>
        <p:spPr>
          <a:xfrm>
            <a:off x="8250767" y="3670300"/>
            <a:ext cx="2956306"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3F7FE"/>
                </a:solidFill>
                <a:latin typeface="Arial" pitchFamily="34" charset="0"/>
                <a:ea typeface="Arial" pitchFamily="34" charset="-122"/>
                <a:cs typeface="Arial" pitchFamily="34" charset="-120"/>
              </a:rPr>
              <a:t>FastAPI on uvicorn: 4 simple routes, validated input, instant predictions.</a:t>
            </a:r>
            <a:endParaRPr lang="en-US" sz="1200" dirty="0"/>
          </a:p>
        </p:txBody>
      </p:sp>
      <p:sp>
        <p:nvSpPr>
          <p:cNvPr id="17" name="Text 11"/>
          <p:cNvSpPr/>
          <p:nvPr/>
        </p:nvSpPr>
        <p:spPr>
          <a:xfrm>
            <a:off x="812800" y="4873296"/>
            <a:ext cx="10883392"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F3F7FE"/>
                </a:solidFill>
                <a:latin typeface="Arial" pitchFamily="34" charset="0"/>
                <a:ea typeface="Arial" pitchFamily="34" charset="-122"/>
                <a:cs typeface="Arial" pitchFamily="34" charset="-120"/>
              </a:rPr>
              <a:t>Thank you — questions?</a:t>
            </a:r>
            <a:endParaRPr lang="en-US" sz="2200" dirty="0"/>
          </a:p>
        </p:txBody>
      </p:sp>
    </p:spTree>
  </p:cSld>
  <p:clrMapOvr>
    <a:masterClrMapping/>
  </p:clrMapOvr>
</p:sld>
</file>

<file path=ppt/theme/theme1.xml><?xml version="1.0" encoding="utf-8"?>
<a:theme xmlns:a="http://schemas.openxmlformats.org/drawingml/2006/main" name="Mushroom Prediction — Train &amp; Serve">
  <a:themeElements>
    <a:clrScheme name="Mushroom Prediction — Train &amp; Serve">
      <a:dk1>
        <a:srgbClr val="0B1B3D"/>
      </a:dk1>
      <a:lt1>
        <a:srgbClr val="F3F7FE"/>
      </a:lt1>
      <a:dk2>
        <a:srgbClr val="45526D"/>
      </a:dk2>
      <a:lt2>
        <a:srgbClr val="DCE1EB"/>
      </a:lt2>
      <a:accent1>
        <a:srgbClr val="44557A"/>
      </a:accent1>
      <a:accent2>
        <a:srgbClr val="2563EB"/>
      </a:accent2>
      <a:accent3>
        <a:srgbClr val="52658C"/>
      </a:accent3>
      <a:accent4>
        <a:srgbClr val="1E3A8A"/>
      </a:accent4>
      <a:accent5>
        <a:srgbClr val="C3D3F2"/>
      </a:accent5>
      <a:accent6>
        <a:srgbClr val="60A5FA"/>
      </a:accent6>
      <a:hlink>
        <a:srgbClr val="0563C1"/>
      </a:hlink>
      <a:folHlink>
        <a:srgbClr val="954F72"/>
      </a:folHlink>
    </a:clrScheme>
    <a:fontScheme name="Mushroom Prediction — Train &amp; Serv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Mushroom Prediction — Train &amp; Serve</dc:title>
  <dc:subject/>
  <dc:creator/>
  <cp:lastModifiedBy/>
  <cp:revision>1</cp:revision>
  <dcterms:created xsi:type="dcterms:W3CDTF">2026-10-20T08:42:42Z</dcterms:created>
  <dcterms:modified xsi:type="dcterms:W3CDTF">2026-10-20T08:42:42Z</dcterms:modified>
</cp:coreProperties>
</file>